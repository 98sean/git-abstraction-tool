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05840"/>
            <a:ext cx="10058400" cy="274320"/>
          </a:xfrm>
          <a:prstGeom prst="rect">
            <a:avLst/>
          </a:prstGeom>
          <a:noFill/>
        </p:spPr>
        <p:txBody>
          <a:bodyPr wrap="square">
            <a:spAutoFit/>
          </a:bodyPr>
          <a:lstStyle/>
          <a:p>
            <a:pPr algn="l"/>
            <a:r>
              <a:rPr sz="800" b="1" i="0">
                <a:solidFill>
                  <a:srgbClr val="777777"/>
                </a:solidFill>
              </a:rPr>
              <a:t>HONDA X 99P LABS - SPRING 2026</a:t>
            </a:r>
          </a:p>
        </p:txBody>
      </p:sp>
      <p:sp>
        <p:nvSpPr>
          <p:cNvPr id="4" name="TextBox 3"/>
          <p:cNvSpPr txBox="1"/>
          <p:nvPr/>
        </p:nvSpPr>
        <p:spPr>
          <a:xfrm>
            <a:off x="914400" y="1325880"/>
            <a:ext cx="10332720" cy="2286000"/>
          </a:xfrm>
          <a:prstGeom prst="rect">
            <a:avLst/>
          </a:prstGeom>
          <a:noFill/>
        </p:spPr>
        <p:txBody>
          <a:bodyPr wrap="square">
            <a:spAutoFit/>
          </a:bodyPr>
          <a:lstStyle/>
          <a:p>
            <a:pPr algn="l"/>
            <a:r>
              <a:rPr sz="4000" b="1" i="0">
                <a:solidFill>
                  <a:srgbClr val="FFFFFF"/>
                </a:solidFill>
              </a:rPr>
              <a:t>Code Repo Knowledge Layer
-&gt; Git Abstraction Tool</a:t>
            </a:r>
          </a:p>
        </p:txBody>
      </p:sp>
      <p:sp>
        <p:nvSpPr>
          <p:cNvPr id="5" name="TextBox 4"/>
          <p:cNvSpPr txBox="1"/>
          <p:nvPr/>
        </p:nvSpPr>
        <p:spPr>
          <a:xfrm>
            <a:off x="914400" y="3749039"/>
            <a:ext cx="8686800" cy="1097280"/>
          </a:xfrm>
          <a:prstGeom prst="rect">
            <a:avLst/>
          </a:prstGeom>
          <a:noFill/>
        </p:spPr>
        <p:txBody>
          <a:bodyPr wrap="square">
            <a:spAutoFit/>
          </a:bodyPr>
          <a:lstStyle/>
          <a:p>
            <a:pPr algn="l"/>
            <a:r>
              <a:rPr sz="1500" b="0" i="0">
                <a:solidFill>
                  <a:srgbClr val="AAAAAA"/>
                </a:solidFill>
              </a:rPr>
              <a:t>A semester-long journey from developer onboarding tooling to a desktop app
that makes version control accessible to everyone.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9144000" cy="274320"/>
          </a:xfrm>
          <a:prstGeom prst="rect">
            <a:avLst/>
          </a:prstGeom>
          <a:noFill/>
        </p:spPr>
        <p:txBody>
          <a:bodyPr wrap="square">
            <a:spAutoFit/>
          </a:bodyPr>
          <a:lstStyle/>
          <a:p>
            <a:pPr algn="l"/>
            <a:r>
              <a:rPr sz="800" b="1" i="0">
                <a:solidFill>
                  <a:srgbClr val="FFCCCC"/>
                </a:solidFill>
              </a:rPr>
              <a:t>PART 1</a:t>
            </a:r>
          </a:p>
        </p:txBody>
      </p:sp>
      <p:sp>
        <p:nvSpPr>
          <p:cNvPr id="4" name="TextBox 3"/>
          <p:cNvSpPr txBox="1"/>
          <p:nvPr/>
        </p:nvSpPr>
        <p:spPr>
          <a:xfrm>
            <a:off x="914400" y="2788920"/>
            <a:ext cx="10332720" cy="1280160"/>
          </a:xfrm>
          <a:prstGeom prst="rect">
            <a:avLst/>
          </a:prstGeom>
          <a:noFill/>
        </p:spPr>
        <p:txBody>
          <a:bodyPr wrap="square">
            <a:spAutoFit/>
          </a:bodyPr>
          <a:lstStyle/>
          <a:p>
            <a:pPr algn="l"/>
            <a:r>
              <a:rPr sz="3800" b="1" i="0">
                <a:solidFill>
                  <a:srgbClr val="FFFFFF"/>
                </a:solidFill>
              </a:rPr>
              <a:t>Code Repo Knowledge Layer</a:t>
            </a:r>
          </a:p>
        </p:txBody>
      </p:sp>
      <p:sp>
        <p:nvSpPr>
          <p:cNvPr id="5" name="TextBox 4"/>
          <p:cNvSpPr txBox="1"/>
          <p:nvPr/>
        </p:nvSpPr>
        <p:spPr>
          <a:xfrm>
            <a:off x="914400" y="4160520"/>
            <a:ext cx="8229600" cy="548640"/>
          </a:xfrm>
          <a:prstGeom prst="rect">
            <a:avLst/>
          </a:prstGeom>
          <a:noFill/>
        </p:spPr>
        <p:txBody>
          <a:bodyPr wrap="square">
            <a:spAutoFit/>
          </a:bodyPr>
          <a:lstStyle/>
          <a:p>
            <a:pPr algn="l"/>
            <a:r>
              <a:rPr sz="1700" b="0" i="0">
                <a:solidFill>
                  <a:srgbClr val="FFDDDD"/>
                </a:solidFill>
              </a:rPr>
              <a:t>Our initial project -- Repo Onboarding Buddy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CODE REPO KNOWLEDGE LAYER -- PROBLEM</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The Problem We Started With</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463040"/>
            <a:ext cx="5157216" cy="749808"/>
          </a:xfrm>
          <a:prstGeom prst="rect">
            <a:avLst/>
          </a:prstGeom>
          <a:noFill/>
        </p:spPr>
        <p:txBody>
          <a:bodyPr wrap="square">
            <a:spAutoFit/>
          </a:bodyPr>
          <a:lstStyle/>
          <a:p>
            <a:pPr algn="l"/>
            <a:r>
              <a:rPr sz="1200" b="0" i="0">
                <a:solidFill>
                  <a:srgbClr val="444444"/>
                </a:solidFill>
              </a:rPr>
              <a:t>Explicit knowledge -- code, comments, README. Already in the repo, but hard to navigate at scale.</a:t>
            </a:r>
          </a:p>
        </p:txBody>
      </p:sp>
      <p:sp>
        <p:nvSpPr>
          <p:cNvPr id="8" name="Oval 7"/>
          <p:cNvSpPr/>
          <p:nvPr/>
        </p:nvSpPr>
        <p:spPr>
          <a:xfrm>
            <a:off x="548640" y="230428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212848"/>
            <a:ext cx="5157216" cy="749808"/>
          </a:xfrm>
          <a:prstGeom prst="rect">
            <a:avLst/>
          </a:prstGeom>
          <a:noFill/>
        </p:spPr>
        <p:txBody>
          <a:bodyPr wrap="square">
            <a:spAutoFit/>
          </a:bodyPr>
          <a:lstStyle/>
          <a:p>
            <a:pPr algn="l"/>
            <a:r>
              <a:rPr sz="1200" b="0" i="0">
                <a:solidFill>
                  <a:srgbClr val="444444"/>
                </a:solidFill>
              </a:rPr>
              <a:t>Structural knowledge -- 'if you change this, that breaks.' Implicit in code but hard to trace manually.</a:t>
            </a:r>
          </a:p>
        </p:txBody>
      </p:sp>
      <p:sp>
        <p:nvSpPr>
          <p:cNvPr id="10" name="Oval 9"/>
          <p:cNvSpPr/>
          <p:nvPr/>
        </p:nvSpPr>
        <p:spPr>
          <a:xfrm>
            <a:off x="548640" y="305409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962656"/>
            <a:ext cx="5157216" cy="749808"/>
          </a:xfrm>
          <a:prstGeom prst="rect">
            <a:avLst/>
          </a:prstGeom>
          <a:noFill/>
        </p:spPr>
        <p:txBody>
          <a:bodyPr wrap="square">
            <a:spAutoFit/>
          </a:bodyPr>
          <a:lstStyle/>
          <a:p>
            <a:pPr algn="l"/>
            <a:r>
              <a:rPr sz="1200" b="0" i="0">
                <a:solidFill>
                  <a:srgbClr val="444444"/>
                </a:solidFill>
              </a:rPr>
              <a:t>Contextual knowledge -- 'why was this written this way?' Lives only in people's heads. Lost completely when team communication is absent.</a:t>
            </a:r>
          </a:p>
        </p:txBody>
      </p:sp>
      <p:sp>
        <p:nvSpPr>
          <p:cNvPr id="12" name="Rectangle 11"/>
          <p:cNvSpPr/>
          <p:nvPr/>
        </p:nvSpPr>
        <p:spPr>
          <a:xfrm>
            <a:off x="6400800" y="1463040"/>
            <a:ext cx="52578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463040"/>
            <a:ext cx="64008" cy="10058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1554480"/>
            <a:ext cx="5029200" cy="301752"/>
          </a:xfrm>
          <a:prstGeom prst="rect">
            <a:avLst/>
          </a:prstGeom>
          <a:noFill/>
        </p:spPr>
        <p:txBody>
          <a:bodyPr wrap="square">
            <a:spAutoFit/>
          </a:bodyPr>
          <a:lstStyle/>
          <a:p>
            <a:pPr algn="l"/>
            <a:r>
              <a:rPr sz="1200" b="1" i="0">
                <a:solidFill>
                  <a:srgbClr val="1A1A1A"/>
                </a:solidFill>
              </a:rPr>
              <a:t>Root Cause</a:t>
            </a:r>
          </a:p>
        </p:txBody>
      </p:sp>
      <p:sp>
        <p:nvSpPr>
          <p:cNvPr id="15" name="TextBox 14"/>
          <p:cNvSpPr txBox="1"/>
          <p:nvPr/>
        </p:nvSpPr>
        <p:spPr>
          <a:xfrm>
            <a:off x="6556248" y="1847088"/>
            <a:ext cx="5029200" cy="548640"/>
          </a:xfrm>
          <a:prstGeom prst="rect">
            <a:avLst/>
          </a:prstGeom>
          <a:noFill/>
        </p:spPr>
        <p:txBody>
          <a:bodyPr wrap="square">
            <a:spAutoFit/>
          </a:bodyPr>
          <a:lstStyle/>
          <a:p>
            <a:pPr algn="l"/>
            <a:r>
              <a:rPr sz="1100" b="0" i="0">
                <a:solidFill>
                  <a:srgbClr val="444444"/>
                </a:solidFill>
              </a:rPr>
              <a:t>Teams don't communicate around code -- so new members must read everything manually, and it takes too long.</a:t>
            </a:r>
          </a:p>
        </p:txBody>
      </p:sp>
      <p:sp>
        <p:nvSpPr>
          <p:cNvPr id="16" name="Rectangle 15"/>
          <p:cNvSpPr/>
          <p:nvPr/>
        </p:nvSpPr>
        <p:spPr>
          <a:xfrm>
            <a:off x="6400800" y="2606040"/>
            <a:ext cx="525780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2606040"/>
            <a:ext cx="64008" cy="10058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2697480"/>
            <a:ext cx="5029200" cy="301752"/>
          </a:xfrm>
          <a:prstGeom prst="rect">
            <a:avLst/>
          </a:prstGeom>
          <a:noFill/>
        </p:spPr>
        <p:txBody>
          <a:bodyPr wrap="square">
            <a:spAutoFit/>
          </a:bodyPr>
          <a:lstStyle/>
          <a:p>
            <a:pPr algn="l"/>
            <a:r>
              <a:rPr sz="1200" b="1" i="0">
                <a:solidFill>
                  <a:srgbClr val="1A1A1A"/>
                </a:solidFill>
              </a:rPr>
              <a:t>Gap in existing tools</a:t>
            </a:r>
          </a:p>
        </p:txBody>
      </p:sp>
      <p:sp>
        <p:nvSpPr>
          <p:cNvPr id="19" name="TextBox 18"/>
          <p:cNvSpPr txBox="1"/>
          <p:nvPr/>
        </p:nvSpPr>
        <p:spPr>
          <a:xfrm>
            <a:off x="6556248" y="2990088"/>
            <a:ext cx="5029200" cy="548640"/>
          </a:xfrm>
          <a:prstGeom prst="rect">
            <a:avLst/>
          </a:prstGeom>
          <a:noFill/>
        </p:spPr>
        <p:txBody>
          <a:bodyPr wrap="square">
            <a:spAutoFit/>
          </a:bodyPr>
          <a:lstStyle/>
          <a:p>
            <a:pPr algn="l"/>
            <a:r>
              <a:rPr sz="1100" b="0" i="0">
                <a:solidFill>
                  <a:srgbClr val="444444"/>
                </a:solidFill>
              </a:rPr>
              <a:t>GitHub Copilot and search tools handle explicit knowledge only. Structural and contextual knowledge still require asking people.</a:t>
            </a:r>
          </a:p>
        </p:txBody>
      </p:sp>
      <p:sp>
        <p:nvSpPr>
          <p:cNvPr id="20" name="Rectangle 19"/>
          <p:cNvSpPr/>
          <p:nvPr/>
        </p:nvSpPr>
        <p:spPr>
          <a:xfrm>
            <a:off x="6400800" y="3749039"/>
            <a:ext cx="52578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3749039"/>
            <a:ext cx="64008" cy="914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3840479"/>
            <a:ext cx="5029200" cy="301752"/>
          </a:xfrm>
          <a:prstGeom prst="rect">
            <a:avLst/>
          </a:prstGeom>
          <a:noFill/>
        </p:spPr>
        <p:txBody>
          <a:bodyPr wrap="square">
            <a:spAutoFit/>
          </a:bodyPr>
          <a:lstStyle/>
          <a:p>
            <a:pPr algn="l"/>
            <a:r>
              <a:rPr sz="1200" b="1" i="0">
                <a:solidFill>
                  <a:srgbClr val="1A1A1A"/>
                </a:solidFill>
              </a:rPr>
              <a:t>Our goal</a:t>
            </a:r>
          </a:p>
        </p:txBody>
      </p:sp>
      <p:sp>
        <p:nvSpPr>
          <p:cNvPr id="23" name="TextBox 22"/>
          <p:cNvSpPr txBox="1"/>
          <p:nvPr/>
        </p:nvSpPr>
        <p:spPr>
          <a:xfrm>
            <a:off x="6556248" y="4133087"/>
            <a:ext cx="5029200" cy="457200"/>
          </a:xfrm>
          <a:prstGeom prst="rect">
            <a:avLst/>
          </a:prstGeom>
          <a:noFill/>
        </p:spPr>
        <p:txBody>
          <a:bodyPr wrap="square">
            <a:spAutoFit/>
          </a:bodyPr>
          <a:lstStyle/>
          <a:p>
            <a:pPr algn="l"/>
            <a:r>
              <a:rPr sz="1100" b="0" i="0">
                <a:solidFill>
                  <a:srgbClr val="444444"/>
                </a:solidFill>
              </a:rPr>
              <a:t>Build a knowledge layer covering all three types without leaving the editor.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CODE REPO KNOWLEDGE LAYER -- BRAINSTORM</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Five Directions We Explored</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3949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64008" cy="8869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554480"/>
            <a:ext cx="5166360" cy="301752"/>
          </a:xfrm>
          <a:prstGeom prst="rect">
            <a:avLst/>
          </a:prstGeom>
          <a:noFill/>
        </p:spPr>
        <p:txBody>
          <a:bodyPr wrap="square">
            <a:spAutoFit/>
          </a:bodyPr>
          <a:lstStyle/>
          <a:p>
            <a:pPr algn="l"/>
            <a:r>
              <a:rPr sz="1100" b="1" i="0">
                <a:solidFill>
                  <a:srgbClr val="1A1A1A"/>
                </a:solidFill>
              </a:rPr>
              <a:t>1. AI Coaching Agent -- "Repo Onboarding Buddy"</a:t>
            </a:r>
          </a:p>
        </p:txBody>
      </p:sp>
      <p:sp>
        <p:nvSpPr>
          <p:cNvPr id="9" name="TextBox 8"/>
          <p:cNvSpPr txBox="1"/>
          <p:nvPr/>
        </p:nvSpPr>
        <p:spPr>
          <a:xfrm>
            <a:off x="704088" y="1847088"/>
            <a:ext cx="5166360" cy="429768"/>
          </a:xfrm>
          <a:prstGeom prst="rect">
            <a:avLst/>
          </a:prstGeom>
          <a:noFill/>
        </p:spPr>
        <p:txBody>
          <a:bodyPr wrap="square">
            <a:spAutoFit/>
          </a:bodyPr>
          <a:lstStyle/>
          <a:p>
            <a:pPr algn="l"/>
            <a:r>
              <a:rPr sz="1000" b="0" i="0">
                <a:solidFill>
                  <a:srgbClr val="444444"/>
                </a:solidFill>
              </a:rPr>
              <a:t>Ask 'how does the data pipeline work?' and get an answer grounded in code structure, dependencies, and git history -- not just docs.</a:t>
            </a:r>
          </a:p>
        </p:txBody>
      </p:sp>
      <p:sp>
        <p:nvSpPr>
          <p:cNvPr id="10" name="Rectangle 9"/>
          <p:cNvSpPr/>
          <p:nvPr/>
        </p:nvSpPr>
        <p:spPr>
          <a:xfrm>
            <a:off x="548640" y="2441448"/>
            <a:ext cx="53949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41448"/>
            <a:ext cx="64008" cy="8869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532888"/>
            <a:ext cx="5166360" cy="301752"/>
          </a:xfrm>
          <a:prstGeom prst="rect">
            <a:avLst/>
          </a:prstGeom>
          <a:noFill/>
        </p:spPr>
        <p:txBody>
          <a:bodyPr wrap="square">
            <a:spAutoFit/>
          </a:bodyPr>
          <a:lstStyle/>
          <a:p>
            <a:pPr algn="l"/>
            <a:r>
              <a:rPr sz="1100" b="1" i="0">
                <a:solidFill>
                  <a:srgbClr val="1A1A1A"/>
                </a:solidFill>
              </a:rPr>
              <a:t>2. Auto-Documentation</a:t>
            </a:r>
          </a:p>
        </p:txBody>
      </p:sp>
      <p:sp>
        <p:nvSpPr>
          <p:cNvPr id="13" name="TextBox 12"/>
          <p:cNvSpPr txBox="1"/>
          <p:nvPr/>
        </p:nvSpPr>
        <p:spPr>
          <a:xfrm>
            <a:off x="704088" y="2825496"/>
            <a:ext cx="5166360" cy="429768"/>
          </a:xfrm>
          <a:prstGeom prst="rect">
            <a:avLst/>
          </a:prstGeom>
          <a:noFill/>
        </p:spPr>
        <p:txBody>
          <a:bodyPr wrap="square">
            <a:spAutoFit/>
          </a:bodyPr>
          <a:lstStyle/>
          <a:p>
            <a:pPr algn="l"/>
            <a:r>
              <a:rPr sz="1000" b="0" i="0">
                <a:solidFill>
                  <a:srgbClr val="444444"/>
                </a:solidFill>
              </a:rPr>
              <a:t>Living docs that auto-update when code changes. Four layers: one-liner, feature description, architecture context, business impact.</a:t>
            </a:r>
          </a:p>
        </p:txBody>
      </p:sp>
      <p:sp>
        <p:nvSpPr>
          <p:cNvPr id="14" name="Rectangle 13"/>
          <p:cNvSpPr/>
          <p:nvPr/>
        </p:nvSpPr>
        <p:spPr>
          <a:xfrm>
            <a:off x="548640" y="3419856"/>
            <a:ext cx="53949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419856"/>
            <a:ext cx="64008" cy="8869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511296"/>
            <a:ext cx="5166360" cy="301752"/>
          </a:xfrm>
          <a:prstGeom prst="rect">
            <a:avLst/>
          </a:prstGeom>
          <a:noFill/>
        </p:spPr>
        <p:txBody>
          <a:bodyPr wrap="square">
            <a:spAutoFit/>
          </a:bodyPr>
          <a:lstStyle/>
          <a:p>
            <a:pPr algn="l"/>
            <a:r>
              <a:rPr sz="1100" b="1" i="0">
                <a:solidFill>
                  <a:srgbClr val="1A1A1A"/>
                </a:solidFill>
              </a:rPr>
              <a:t>3. Usage Tracking Layer</a:t>
            </a:r>
          </a:p>
        </p:txBody>
      </p:sp>
      <p:sp>
        <p:nvSpPr>
          <p:cNvPr id="17" name="TextBox 16"/>
          <p:cNvSpPr txBox="1"/>
          <p:nvPr/>
        </p:nvSpPr>
        <p:spPr>
          <a:xfrm>
            <a:off x="704088" y="3803904"/>
            <a:ext cx="5166360" cy="429768"/>
          </a:xfrm>
          <a:prstGeom prst="rect">
            <a:avLst/>
          </a:prstGeom>
          <a:noFill/>
        </p:spPr>
        <p:txBody>
          <a:bodyPr wrap="square">
            <a:spAutoFit/>
          </a:bodyPr>
          <a:lstStyle/>
          <a:p>
            <a:pPr algn="l"/>
            <a:r>
              <a:rPr sz="1000" b="0" i="0">
                <a:solidFill>
                  <a:srgbClr val="444444"/>
                </a:solidFill>
              </a:rPr>
              <a:t>Git history + AST analysis -&gt; Core Assets, Stable components, Dead Code candidates. Bus factor alerts. Tableau treemap visualization.</a:t>
            </a:r>
          </a:p>
        </p:txBody>
      </p:sp>
      <p:sp>
        <p:nvSpPr>
          <p:cNvPr id="18" name="Rectangle 17"/>
          <p:cNvSpPr/>
          <p:nvPr/>
        </p:nvSpPr>
        <p:spPr>
          <a:xfrm>
            <a:off x="6309360" y="1463040"/>
            <a:ext cx="53949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463040"/>
            <a:ext cx="64008" cy="8869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554480"/>
            <a:ext cx="5166360" cy="301752"/>
          </a:xfrm>
          <a:prstGeom prst="rect">
            <a:avLst/>
          </a:prstGeom>
          <a:noFill/>
        </p:spPr>
        <p:txBody>
          <a:bodyPr wrap="square">
            <a:spAutoFit/>
          </a:bodyPr>
          <a:lstStyle/>
          <a:p>
            <a:pPr algn="l"/>
            <a:r>
              <a:rPr sz="1100" b="1" i="0">
                <a:solidFill>
                  <a:srgbClr val="1A1A1A"/>
                </a:solidFill>
              </a:rPr>
              <a:t>4. Interactive Code Map</a:t>
            </a:r>
          </a:p>
        </p:txBody>
      </p:sp>
      <p:sp>
        <p:nvSpPr>
          <p:cNvPr id="21" name="TextBox 20"/>
          <p:cNvSpPr txBox="1"/>
          <p:nvPr/>
        </p:nvSpPr>
        <p:spPr>
          <a:xfrm>
            <a:off x="6464808" y="1847088"/>
            <a:ext cx="5166360" cy="429768"/>
          </a:xfrm>
          <a:prstGeom prst="rect">
            <a:avLst/>
          </a:prstGeom>
          <a:noFill/>
        </p:spPr>
        <p:txBody>
          <a:bodyPr wrap="square">
            <a:spAutoFit/>
          </a:bodyPr>
          <a:lstStyle/>
          <a:p>
            <a:pPr algn="l"/>
            <a:r>
              <a:rPr sz="1000" b="0" i="0">
                <a:solidFill>
                  <a:srgbClr val="444444"/>
                </a:solidFill>
              </a:rPr>
              <a:t>Navigable graph of the entire repo. Click to drill down. Data lineage and cross-team dependency discovery.</a:t>
            </a:r>
          </a:p>
        </p:txBody>
      </p:sp>
      <p:sp>
        <p:nvSpPr>
          <p:cNvPr id="22" name="Rectangle 21"/>
          <p:cNvSpPr/>
          <p:nvPr/>
        </p:nvSpPr>
        <p:spPr>
          <a:xfrm>
            <a:off x="6309360" y="2441448"/>
            <a:ext cx="5394960" cy="886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2441448"/>
            <a:ext cx="64008" cy="8869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4808" y="2532888"/>
            <a:ext cx="5166360" cy="301752"/>
          </a:xfrm>
          <a:prstGeom prst="rect">
            <a:avLst/>
          </a:prstGeom>
          <a:noFill/>
        </p:spPr>
        <p:txBody>
          <a:bodyPr wrap="square">
            <a:spAutoFit/>
          </a:bodyPr>
          <a:lstStyle/>
          <a:p>
            <a:pPr algn="l"/>
            <a:r>
              <a:rPr sz="1100" b="1" i="0">
                <a:solidFill>
                  <a:srgbClr val="1A1A1A"/>
                </a:solidFill>
              </a:rPr>
              <a:t>5. Communication Gap Filler</a:t>
            </a:r>
          </a:p>
        </p:txBody>
      </p:sp>
      <p:sp>
        <p:nvSpPr>
          <p:cNvPr id="25" name="TextBox 24"/>
          <p:cNvSpPr txBox="1"/>
          <p:nvPr/>
        </p:nvSpPr>
        <p:spPr>
          <a:xfrm>
            <a:off x="6464808" y="2825496"/>
            <a:ext cx="5166360" cy="429768"/>
          </a:xfrm>
          <a:prstGeom prst="rect">
            <a:avLst/>
          </a:prstGeom>
          <a:noFill/>
        </p:spPr>
        <p:txBody>
          <a:bodyPr wrap="square">
            <a:spAutoFit/>
          </a:bodyPr>
          <a:lstStyle/>
          <a:p>
            <a:pPr algn="l"/>
            <a:r>
              <a:rPr sz="1000" b="0" i="0">
                <a:solidFill>
                  <a:srgbClr val="444444"/>
                </a:solidFill>
              </a:rPr>
              <a:t>Weekly AI newsletter of what changed. Cross-team impact alerts. 'Ask the repo' Slack bot.</a:t>
            </a:r>
          </a:p>
        </p:txBody>
      </p:sp>
      <p:sp>
        <p:nvSpPr>
          <p:cNvPr id="26" name="Rectangle 25"/>
          <p:cNvSpPr/>
          <p:nvPr/>
        </p:nvSpPr>
        <p:spPr>
          <a:xfrm>
            <a:off x="6309360" y="3429000"/>
            <a:ext cx="539496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3429000"/>
            <a:ext cx="64008" cy="7772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4808" y="3520440"/>
            <a:ext cx="5166360" cy="301752"/>
          </a:xfrm>
          <a:prstGeom prst="rect">
            <a:avLst/>
          </a:prstGeom>
          <a:noFill/>
        </p:spPr>
        <p:txBody>
          <a:bodyPr wrap="square">
            <a:spAutoFit/>
          </a:bodyPr>
          <a:lstStyle/>
          <a:p>
            <a:pPr algn="l"/>
            <a:r>
              <a:rPr sz="1000" b="1" i="0">
                <a:solidFill>
                  <a:srgbClr val="1A1A1A"/>
                </a:solidFill>
              </a:rPr>
              <a:t>One-line product definition</a:t>
            </a:r>
          </a:p>
        </p:txBody>
      </p:sp>
      <p:sp>
        <p:nvSpPr>
          <p:cNvPr id="29" name="TextBox 28"/>
          <p:cNvSpPr txBox="1"/>
          <p:nvPr/>
        </p:nvSpPr>
        <p:spPr>
          <a:xfrm>
            <a:off x="6464808" y="3813048"/>
            <a:ext cx="5166360" cy="320040"/>
          </a:xfrm>
          <a:prstGeom prst="rect">
            <a:avLst/>
          </a:prstGeom>
          <a:noFill/>
        </p:spPr>
        <p:txBody>
          <a:bodyPr wrap="square">
            <a:spAutoFit/>
          </a:bodyPr>
          <a:lstStyle/>
          <a:p>
            <a:pPr algn="l"/>
            <a:r>
              <a:rPr sz="1000" b="0" i="0">
                <a:solidFill>
                  <a:srgbClr val="444444"/>
                </a:solidFill>
              </a:rPr>
              <a:t>"A VS Code Extension that lets you understand every context of a repo without leaving the editor."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CODE REPO KNOWLEDGE LAYER -- PHASE 1 DELIVERABLES</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What We Actually Built</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94960" cy="320040"/>
          </a:xfrm>
          <a:prstGeom prst="rect">
            <a:avLst/>
          </a:prstGeom>
          <a:noFill/>
        </p:spPr>
        <p:txBody>
          <a:bodyPr wrap="square">
            <a:spAutoFit/>
          </a:bodyPr>
          <a:lstStyle/>
          <a:p>
            <a:pPr algn="l"/>
            <a:r>
              <a:rPr sz="1200" b="1" i="0">
                <a:solidFill>
                  <a:srgbClr val="CC0000"/>
                </a:solidFill>
              </a:rPr>
              <a:t>Repo Onboarding Buddy (Chanyoung, Seungyeon, Jaeyoon)</a:t>
            </a:r>
          </a:p>
        </p:txBody>
      </p:sp>
      <p:sp>
        <p:nvSpPr>
          <p:cNvPr id="7" name="Oval 6"/>
          <p:cNvSpPr/>
          <p:nvPr/>
        </p:nvSpPr>
        <p:spPr>
          <a:xfrm>
            <a:off x="548640" y="19202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828800"/>
            <a:ext cx="5202936" cy="402336"/>
          </a:xfrm>
          <a:prstGeom prst="rect">
            <a:avLst/>
          </a:prstGeom>
          <a:noFill/>
        </p:spPr>
        <p:txBody>
          <a:bodyPr wrap="square">
            <a:spAutoFit/>
          </a:bodyPr>
          <a:lstStyle/>
          <a:p>
            <a:pPr algn="l"/>
            <a:r>
              <a:rPr sz="1100" b="0" i="0">
                <a:solidFill>
                  <a:srgbClr val="444444"/>
                </a:solidFill>
              </a:rPr>
              <a:t>VS Code Extension UI with sidebar chat panel</a:t>
            </a:r>
          </a:p>
        </p:txBody>
      </p:sp>
      <p:sp>
        <p:nvSpPr>
          <p:cNvPr id="9" name="Oval 8"/>
          <p:cNvSpPr/>
          <p:nvPr/>
        </p:nvSpPr>
        <p:spPr>
          <a:xfrm>
            <a:off x="548640" y="232257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231136"/>
            <a:ext cx="5202936" cy="402336"/>
          </a:xfrm>
          <a:prstGeom prst="rect">
            <a:avLst/>
          </a:prstGeom>
          <a:noFill/>
        </p:spPr>
        <p:txBody>
          <a:bodyPr wrap="square">
            <a:spAutoFit/>
          </a:bodyPr>
          <a:lstStyle/>
          <a:p>
            <a:pPr algn="l"/>
            <a:r>
              <a:rPr sz="1100" b="0" i="0">
                <a:solidFill>
                  <a:srgbClr val="444444"/>
                </a:solidFill>
              </a:rPr>
              <a:t>Context-aware Q&amp;A: agent knows the currently open file</a:t>
            </a:r>
          </a:p>
        </p:txBody>
      </p:sp>
      <p:sp>
        <p:nvSpPr>
          <p:cNvPr id="11" name="Oval 10"/>
          <p:cNvSpPr/>
          <p:nvPr/>
        </p:nvSpPr>
        <p:spPr>
          <a:xfrm>
            <a:off x="548640" y="272491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633472"/>
            <a:ext cx="5202936" cy="402336"/>
          </a:xfrm>
          <a:prstGeom prst="rect">
            <a:avLst/>
          </a:prstGeom>
          <a:noFill/>
        </p:spPr>
        <p:txBody>
          <a:bodyPr wrap="square">
            <a:spAutoFit/>
          </a:bodyPr>
          <a:lstStyle/>
          <a:p>
            <a:pPr algn="l"/>
            <a:r>
              <a:rPr sz="1100" b="0" i="0">
                <a:solidFill>
                  <a:srgbClr val="444444"/>
                </a:solidFill>
              </a:rPr>
              <a:t>AST-based code parsing with tree-sitter (no AI for structure)</a:t>
            </a:r>
          </a:p>
        </p:txBody>
      </p:sp>
      <p:sp>
        <p:nvSpPr>
          <p:cNvPr id="13" name="Oval 12"/>
          <p:cNvSpPr/>
          <p:nvPr/>
        </p:nvSpPr>
        <p:spPr>
          <a:xfrm>
            <a:off x="548640" y="312724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3035808"/>
            <a:ext cx="5202936" cy="402336"/>
          </a:xfrm>
          <a:prstGeom prst="rect">
            <a:avLst/>
          </a:prstGeom>
          <a:noFill/>
        </p:spPr>
        <p:txBody>
          <a:bodyPr wrap="square">
            <a:spAutoFit/>
          </a:bodyPr>
          <a:lstStyle/>
          <a:p>
            <a:pPr algn="l"/>
            <a:r>
              <a:rPr sz="1100" b="0" i="0">
                <a:solidFill>
                  <a:srgbClr val="444444"/>
                </a:solidFill>
              </a:rPr>
              <a:t>Dependency graph via NetworkX; impact analysis on right-click</a:t>
            </a:r>
          </a:p>
        </p:txBody>
      </p:sp>
      <p:sp>
        <p:nvSpPr>
          <p:cNvPr id="15" name="Oval 14"/>
          <p:cNvSpPr/>
          <p:nvPr/>
        </p:nvSpPr>
        <p:spPr>
          <a:xfrm>
            <a:off x="548640" y="352958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3438144"/>
            <a:ext cx="5202936" cy="402336"/>
          </a:xfrm>
          <a:prstGeom prst="rect">
            <a:avLst/>
          </a:prstGeom>
          <a:noFill/>
        </p:spPr>
        <p:txBody>
          <a:bodyPr wrap="square">
            <a:spAutoFit/>
          </a:bodyPr>
          <a:lstStyle/>
          <a:p>
            <a:pPr algn="l"/>
            <a:r>
              <a:rPr sz="1100" b="0" i="0">
                <a:solidFill>
                  <a:srgbClr val="444444"/>
                </a:solidFill>
              </a:rPr>
              <a:t>Hover metadata: one-liner, caller count, bus factor warning</a:t>
            </a:r>
          </a:p>
        </p:txBody>
      </p:sp>
      <p:sp>
        <p:nvSpPr>
          <p:cNvPr id="17" name="TextBox 16"/>
          <p:cNvSpPr txBox="1"/>
          <p:nvPr/>
        </p:nvSpPr>
        <p:spPr>
          <a:xfrm>
            <a:off x="6309360" y="1444752"/>
            <a:ext cx="5394960" cy="320040"/>
          </a:xfrm>
          <a:prstGeom prst="rect">
            <a:avLst/>
          </a:prstGeom>
          <a:noFill/>
        </p:spPr>
        <p:txBody>
          <a:bodyPr wrap="square">
            <a:spAutoFit/>
          </a:bodyPr>
          <a:lstStyle/>
          <a:p>
            <a:pPr algn="l"/>
            <a:r>
              <a:rPr sz="1200" b="1" i="0">
                <a:solidFill>
                  <a:srgbClr val="CC0000"/>
                </a:solidFill>
              </a:rPr>
              <a:t>Usage Tracking Layer (Jonghoon, Gwanho, Yunha)</a:t>
            </a:r>
          </a:p>
        </p:txBody>
      </p:sp>
      <p:sp>
        <p:nvSpPr>
          <p:cNvPr id="18" name="Oval 17"/>
          <p:cNvSpPr/>
          <p:nvPr/>
        </p:nvSpPr>
        <p:spPr>
          <a:xfrm>
            <a:off x="6309360" y="19202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01384" y="1828800"/>
            <a:ext cx="5202936" cy="402336"/>
          </a:xfrm>
          <a:prstGeom prst="rect">
            <a:avLst/>
          </a:prstGeom>
          <a:noFill/>
        </p:spPr>
        <p:txBody>
          <a:bodyPr wrap="square">
            <a:spAutoFit/>
          </a:bodyPr>
          <a:lstStyle/>
          <a:p>
            <a:pPr algn="l"/>
            <a:r>
              <a:rPr sz="1100" b="0" i="0">
                <a:solidFill>
                  <a:srgbClr val="444444"/>
                </a:solidFill>
              </a:rPr>
              <a:t>CLI tool 'repoknow scan' + FastAPI backend</a:t>
            </a:r>
          </a:p>
        </p:txBody>
      </p:sp>
      <p:sp>
        <p:nvSpPr>
          <p:cNvPr id="20" name="Oval 19"/>
          <p:cNvSpPr/>
          <p:nvPr/>
        </p:nvSpPr>
        <p:spPr>
          <a:xfrm>
            <a:off x="6309360" y="232257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2231136"/>
            <a:ext cx="5202936" cy="402336"/>
          </a:xfrm>
          <a:prstGeom prst="rect">
            <a:avLst/>
          </a:prstGeom>
          <a:noFill/>
        </p:spPr>
        <p:txBody>
          <a:bodyPr wrap="square">
            <a:spAutoFit/>
          </a:bodyPr>
          <a:lstStyle/>
          <a:p>
            <a:pPr algn="l"/>
            <a:r>
              <a:rPr sz="1100" b="0" i="0">
                <a:solidFill>
                  <a:srgbClr val="444444"/>
                </a:solidFill>
              </a:rPr>
              <a:t>PyDriller for git history extraction (churn, ownership, bus factor)</a:t>
            </a:r>
          </a:p>
        </p:txBody>
      </p:sp>
      <p:sp>
        <p:nvSpPr>
          <p:cNvPr id="22" name="Oval 21"/>
          <p:cNvSpPr/>
          <p:nvPr/>
        </p:nvSpPr>
        <p:spPr>
          <a:xfrm>
            <a:off x="6309360" y="272491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4" y="2633472"/>
            <a:ext cx="5202936" cy="402336"/>
          </a:xfrm>
          <a:prstGeom prst="rect">
            <a:avLst/>
          </a:prstGeom>
          <a:noFill/>
        </p:spPr>
        <p:txBody>
          <a:bodyPr wrap="square">
            <a:spAutoFit/>
          </a:bodyPr>
          <a:lstStyle/>
          <a:p>
            <a:pPr algn="l"/>
            <a:r>
              <a:rPr sz="1100" b="0" i="0">
                <a:solidFill>
                  <a:srgbClr val="444444"/>
                </a:solidFill>
              </a:rPr>
              <a:t>CodeQL for static import graph -&gt; internal_edges.csv</a:t>
            </a:r>
          </a:p>
        </p:txBody>
      </p:sp>
      <p:sp>
        <p:nvSpPr>
          <p:cNvPr id="24" name="Oval 23"/>
          <p:cNvSpPr/>
          <p:nvPr/>
        </p:nvSpPr>
        <p:spPr>
          <a:xfrm>
            <a:off x="6309360" y="312724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1384" y="3035808"/>
            <a:ext cx="5202936" cy="402336"/>
          </a:xfrm>
          <a:prstGeom prst="rect">
            <a:avLst/>
          </a:prstGeom>
          <a:noFill/>
        </p:spPr>
        <p:txBody>
          <a:bodyPr wrap="square">
            <a:spAutoFit/>
          </a:bodyPr>
          <a:lstStyle/>
          <a:p>
            <a:pPr algn="l"/>
            <a:r>
              <a:rPr sz="1100" b="0" i="0">
                <a:solidFill>
                  <a:srgbClr val="444444"/>
                </a:solidFill>
              </a:rPr>
              <a:t>Scoring: Core Assets / Stable / Dead Candidates / NonCode</a:t>
            </a:r>
          </a:p>
        </p:txBody>
      </p:sp>
      <p:sp>
        <p:nvSpPr>
          <p:cNvPr id="26" name="Oval 25"/>
          <p:cNvSpPr/>
          <p:nvPr/>
        </p:nvSpPr>
        <p:spPr>
          <a:xfrm>
            <a:off x="6309360" y="352958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1384" y="3438144"/>
            <a:ext cx="5202936" cy="402336"/>
          </a:xfrm>
          <a:prstGeom prst="rect">
            <a:avLst/>
          </a:prstGeom>
          <a:noFill/>
        </p:spPr>
        <p:txBody>
          <a:bodyPr wrap="square">
            <a:spAutoFit/>
          </a:bodyPr>
          <a:lstStyle/>
          <a:p>
            <a:pPr algn="l"/>
            <a:r>
              <a:rPr sz="1100" b="0" i="0">
                <a:solidFill>
                  <a:srgbClr val="444444"/>
                </a:solidFill>
              </a:rPr>
              <a:t>REST API: /impact, /bus-factor-alerts, /top-imports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9144000" cy="274320"/>
          </a:xfrm>
          <a:prstGeom prst="rect">
            <a:avLst/>
          </a:prstGeom>
          <a:noFill/>
        </p:spPr>
        <p:txBody>
          <a:bodyPr wrap="square">
            <a:spAutoFit/>
          </a:bodyPr>
          <a:lstStyle/>
          <a:p>
            <a:pPr algn="l"/>
            <a:r>
              <a:rPr sz="800" b="1" i="0">
                <a:solidFill>
                  <a:srgbClr val="FFCCCC"/>
                </a:solidFill>
              </a:rPr>
              <a:t>PART 2</a:t>
            </a:r>
          </a:p>
        </p:txBody>
      </p:sp>
      <p:sp>
        <p:nvSpPr>
          <p:cNvPr id="4" name="TextBox 3"/>
          <p:cNvSpPr txBox="1"/>
          <p:nvPr/>
        </p:nvSpPr>
        <p:spPr>
          <a:xfrm>
            <a:off x="914400" y="2788920"/>
            <a:ext cx="10332720" cy="1280160"/>
          </a:xfrm>
          <a:prstGeom prst="rect">
            <a:avLst/>
          </a:prstGeom>
          <a:noFill/>
        </p:spPr>
        <p:txBody>
          <a:bodyPr wrap="square">
            <a:spAutoFit/>
          </a:bodyPr>
          <a:lstStyle/>
          <a:p>
            <a:pPr algn="l"/>
            <a:r>
              <a:rPr sz="3800" b="1" i="0">
                <a:solidFill>
                  <a:srgbClr val="FFFFFF"/>
                </a:solidFill>
              </a:rPr>
              <a:t>The Pivot</a:t>
            </a:r>
          </a:p>
        </p:txBody>
      </p:sp>
      <p:sp>
        <p:nvSpPr>
          <p:cNvPr id="5" name="TextBox 4"/>
          <p:cNvSpPr txBox="1"/>
          <p:nvPr/>
        </p:nvSpPr>
        <p:spPr>
          <a:xfrm>
            <a:off x="914400" y="3840480"/>
            <a:ext cx="8229600" cy="548640"/>
          </a:xfrm>
          <a:prstGeom prst="rect">
            <a:avLst/>
          </a:prstGeom>
          <a:noFill/>
        </p:spPr>
        <p:txBody>
          <a:bodyPr wrap="square">
            <a:spAutoFit/>
          </a:bodyPr>
          <a:lstStyle/>
          <a:p>
            <a:pPr algn="l"/>
            <a:r>
              <a:rPr sz="1700" b="0" i="0">
                <a:solidFill>
                  <a:srgbClr val="FFDDDD"/>
                </a:solidFill>
              </a:rPr>
              <a:t>Why we shifted from Repo Buddy to Git Abstraction Tool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THE PIVOT -- WHAT WE HIT</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Barriers We Encountered</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463040"/>
            <a:ext cx="5202936" cy="685800"/>
          </a:xfrm>
          <a:prstGeom prst="rect">
            <a:avLst/>
          </a:prstGeom>
          <a:noFill/>
        </p:spPr>
        <p:txBody>
          <a:bodyPr wrap="square">
            <a:spAutoFit/>
          </a:bodyPr>
          <a:lstStyle/>
          <a:p>
            <a:pPr algn="l"/>
            <a:r>
              <a:rPr sz="1200" b="0" i="0">
                <a:solidFill>
                  <a:srgbClr val="444444"/>
                </a:solidFill>
              </a:rPr>
              <a:t>No shared DB or server -- Ryan's guidance: 'don't spend any money.' SQLite local-only was the ceiling for Phase 1.</a:t>
            </a:r>
          </a:p>
        </p:txBody>
      </p:sp>
      <p:sp>
        <p:nvSpPr>
          <p:cNvPr id="8" name="Oval 7"/>
          <p:cNvSpPr/>
          <p:nvPr/>
        </p:nvSpPr>
        <p:spPr>
          <a:xfrm>
            <a:off x="548640" y="22402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148840"/>
            <a:ext cx="5202936" cy="685800"/>
          </a:xfrm>
          <a:prstGeom prst="rect">
            <a:avLst/>
          </a:prstGeom>
          <a:noFill/>
        </p:spPr>
        <p:txBody>
          <a:bodyPr wrap="square">
            <a:spAutoFit/>
          </a:bodyPr>
          <a:lstStyle/>
          <a:p>
            <a:pPr algn="l"/>
            <a:r>
              <a:rPr sz="1200" b="0" i="0">
                <a:solidFill>
                  <a:srgbClr val="444444"/>
                </a:solidFill>
              </a:rPr>
              <a:t>Cold start problem -- Q&amp;A bot needs seniors to answer first, but they already use Copilot for code explanation.</a:t>
            </a:r>
          </a:p>
        </p:txBody>
      </p:sp>
      <p:sp>
        <p:nvSpPr>
          <p:cNvPr id="10" name="Oval 9"/>
          <p:cNvSpPr/>
          <p:nvPr/>
        </p:nvSpPr>
        <p:spPr>
          <a:xfrm>
            <a:off x="548640" y="29260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834640"/>
            <a:ext cx="5202936" cy="685800"/>
          </a:xfrm>
          <a:prstGeom prst="rect">
            <a:avLst/>
          </a:prstGeom>
          <a:noFill/>
        </p:spPr>
        <p:txBody>
          <a:bodyPr wrap="square">
            <a:spAutoFit/>
          </a:bodyPr>
          <a:lstStyle/>
          <a:p>
            <a:pPr algn="l"/>
            <a:r>
              <a:rPr sz="1200" b="0" i="0">
                <a:solidFill>
                  <a:srgbClr val="444444"/>
                </a:solidFill>
              </a:rPr>
              <a:t>Weak value proposition -- 'What does this function do?' is already answered by Claude and Copilot. Not differentiated.</a:t>
            </a:r>
          </a:p>
        </p:txBody>
      </p:sp>
      <p:sp>
        <p:nvSpPr>
          <p:cNvPr id="12" name="Oval 11"/>
          <p:cNvSpPr/>
          <p:nvPr/>
        </p:nvSpPr>
        <p:spPr>
          <a:xfrm>
            <a:off x="548640" y="36118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3520440"/>
            <a:ext cx="5202936" cy="685800"/>
          </a:xfrm>
          <a:prstGeom prst="rect">
            <a:avLst/>
          </a:prstGeom>
          <a:noFill/>
        </p:spPr>
        <p:txBody>
          <a:bodyPr wrap="square">
            <a:spAutoFit/>
          </a:bodyPr>
          <a:lstStyle/>
          <a:p>
            <a:pPr algn="l"/>
            <a:r>
              <a:rPr sz="1200" b="0" i="0">
                <a:solidFill>
                  <a:srgbClr val="444444"/>
                </a:solidFill>
              </a:rPr>
              <a:t>Tribal knowledge gap -- 'Why was this written this way?' requires git history + PR discussion, hard to build reliably.</a:t>
            </a:r>
          </a:p>
        </p:txBody>
      </p:sp>
      <p:sp>
        <p:nvSpPr>
          <p:cNvPr id="14" name="Rectangle 13"/>
          <p:cNvSpPr/>
          <p:nvPr/>
        </p:nvSpPr>
        <p:spPr>
          <a:xfrm>
            <a:off x="6400800" y="1463040"/>
            <a:ext cx="530352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463040"/>
            <a:ext cx="64008" cy="1143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6248" y="1554480"/>
            <a:ext cx="5074920" cy="301752"/>
          </a:xfrm>
          <a:prstGeom prst="rect">
            <a:avLst/>
          </a:prstGeom>
          <a:noFill/>
        </p:spPr>
        <p:txBody>
          <a:bodyPr wrap="square">
            <a:spAutoFit/>
          </a:bodyPr>
          <a:lstStyle/>
          <a:p>
            <a:pPr algn="l"/>
            <a:r>
              <a:rPr sz="1200" b="1" i="0">
                <a:solidFill>
                  <a:srgbClr val="1A1A1A"/>
                </a:solidFill>
              </a:rPr>
              <a:t>Ryan's Feedback -- 3/6 Honda Meeting</a:t>
            </a:r>
          </a:p>
        </p:txBody>
      </p:sp>
      <p:sp>
        <p:nvSpPr>
          <p:cNvPr id="17" name="TextBox 16"/>
          <p:cNvSpPr txBox="1"/>
          <p:nvPr/>
        </p:nvSpPr>
        <p:spPr>
          <a:xfrm>
            <a:off x="6556248" y="1847088"/>
            <a:ext cx="5074920" cy="685800"/>
          </a:xfrm>
          <a:prstGeom prst="rect">
            <a:avLst/>
          </a:prstGeom>
          <a:noFill/>
        </p:spPr>
        <p:txBody>
          <a:bodyPr wrap="square">
            <a:spAutoFit/>
          </a:bodyPr>
          <a:lstStyle/>
          <a:p>
            <a:pPr algn="l"/>
            <a:r>
              <a:rPr sz="1200" b="0" i="0">
                <a:solidFill>
                  <a:srgbClr val="444444"/>
                </a:solidFill>
              </a:rPr>
              <a:t>"Think of this project as a new approach to version control. A new generation of GitHub or Git."</a:t>
            </a:r>
          </a:p>
        </p:txBody>
      </p:sp>
      <p:sp>
        <p:nvSpPr>
          <p:cNvPr id="18" name="Rectangle 17"/>
          <p:cNvSpPr/>
          <p:nvPr/>
        </p:nvSpPr>
        <p:spPr>
          <a:xfrm>
            <a:off x="6400800" y="2743200"/>
            <a:ext cx="530352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2743200"/>
            <a:ext cx="64008"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6248" y="2834640"/>
            <a:ext cx="5074920" cy="301752"/>
          </a:xfrm>
          <a:prstGeom prst="rect">
            <a:avLst/>
          </a:prstGeom>
          <a:noFill/>
        </p:spPr>
        <p:txBody>
          <a:bodyPr wrap="square">
            <a:spAutoFit/>
          </a:bodyPr>
          <a:lstStyle/>
          <a:p>
            <a:pPr algn="l"/>
            <a:r>
              <a:rPr sz="1200" b="1" i="0">
                <a:solidFill>
                  <a:srgbClr val="1A1A1A"/>
                </a:solidFill>
              </a:rPr>
              <a:t>Ryan's Feedback -- 4/3 Honda Meeting</a:t>
            </a:r>
          </a:p>
        </p:txBody>
      </p:sp>
      <p:sp>
        <p:nvSpPr>
          <p:cNvPr id="21" name="TextBox 20"/>
          <p:cNvSpPr txBox="1"/>
          <p:nvPr/>
        </p:nvSpPr>
        <p:spPr>
          <a:xfrm>
            <a:off x="6556248" y="3127248"/>
            <a:ext cx="5074920" cy="914400"/>
          </a:xfrm>
          <a:prstGeom prst="rect">
            <a:avLst/>
          </a:prstGeom>
          <a:noFill/>
        </p:spPr>
        <p:txBody>
          <a:bodyPr wrap="square">
            <a:spAutoFit/>
          </a:bodyPr>
          <a:lstStyle/>
          <a:p>
            <a:pPr algn="l"/>
            <a:r>
              <a:rPr sz="1200" b="0" i="0">
                <a:solidFill>
                  <a:srgbClr val="444444"/>
                </a:solidFill>
              </a:rPr>
              <a:t>"How do we make vibe coding easier? Ppl do not know what they want -- AI can give a high-level plan. Think about the vibe coders using phones or tablets to code."</a:t>
            </a:r>
          </a:p>
        </p:txBody>
      </p:sp>
      <p:sp>
        <p:nvSpPr>
          <p:cNvPr id="22" name="Rectangle 21"/>
          <p:cNvSpPr/>
          <p:nvPr/>
        </p:nvSpPr>
        <p:spPr>
          <a:xfrm>
            <a:off x="6400800" y="425196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4251960"/>
            <a:ext cx="64008" cy="82296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4343400"/>
            <a:ext cx="5074920" cy="301752"/>
          </a:xfrm>
          <a:prstGeom prst="rect">
            <a:avLst/>
          </a:prstGeom>
          <a:noFill/>
        </p:spPr>
        <p:txBody>
          <a:bodyPr wrap="square">
            <a:spAutoFit/>
          </a:bodyPr>
          <a:lstStyle/>
          <a:p>
            <a:pPr algn="l"/>
            <a:r>
              <a:rPr sz="1200" b="1" i="0">
                <a:solidFill>
                  <a:srgbClr val="1A1A1A"/>
                </a:solidFill>
              </a:rPr>
              <a:t>New Vision</a:t>
            </a:r>
          </a:p>
        </p:txBody>
      </p:sp>
      <p:sp>
        <p:nvSpPr>
          <p:cNvPr id="25" name="TextBox 24"/>
          <p:cNvSpPr txBox="1"/>
          <p:nvPr/>
        </p:nvSpPr>
        <p:spPr>
          <a:xfrm>
            <a:off x="6556248" y="4636008"/>
            <a:ext cx="5074920" cy="365760"/>
          </a:xfrm>
          <a:prstGeom prst="rect">
            <a:avLst/>
          </a:prstGeom>
          <a:noFill/>
        </p:spPr>
        <p:txBody>
          <a:bodyPr wrap="square">
            <a:spAutoFit/>
          </a:bodyPr>
          <a:lstStyle/>
          <a:p>
            <a:pPr algn="l"/>
            <a:r>
              <a:rPr sz="1200" b="0" i="0">
                <a:solidFill>
                  <a:srgbClr val="444444"/>
                </a:solidFill>
              </a:rPr>
              <a:t>A next-gen git tool for non-technical users -- local-first, no server cost, AI-optional.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THE PIVOT -- BEFORE VS. AFTER</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What Changed</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4709160" cy="4800600"/>
          </a:xfrm>
          <a:prstGeom prst="rect">
            <a:avLst/>
          </a:prstGeom>
          <a:solidFill>
            <a:srgbClr val="EEEEEE"/>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4206240" cy="274320"/>
          </a:xfrm>
          <a:prstGeom prst="rect">
            <a:avLst/>
          </a:prstGeom>
          <a:noFill/>
        </p:spPr>
        <p:txBody>
          <a:bodyPr wrap="square">
            <a:spAutoFit/>
          </a:bodyPr>
          <a:lstStyle/>
          <a:p>
            <a:pPr algn="l"/>
            <a:r>
              <a:rPr sz="800" b="1" i="0">
                <a:solidFill>
                  <a:srgbClr val="888888"/>
                </a:solidFill>
              </a:rPr>
              <a:t>CODE REPO KNOWLEDGE LAYER</a:t>
            </a:r>
          </a:p>
        </p:txBody>
      </p:sp>
      <p:sp>
        <p:nvSpPr>
          <p:cNvPr id="8" name="TextBox 7"/>
          <p:cNvSpPr txBox="1"/>
          <p:nvPr/>
        </p:nvSpPr>
        <p:spPr>
          <a:xfrm>
            <a:off x="777240" y="1874519"/>
            <a:ext cx="4206240" cy="384048"/>
          </a:xfrm>
          <a:prstGeom prst="rect">
            <a:avLst/>
          </a:prstGeom>
          <a:noFill/>
        </p:spPr>
        <p:txBody>
          <a:bodyPr wrap="square">
            <a:spAutoFit/>
          </a:bodyPr>
          <a:lstStyle/>
          <a:p>
            <a:pPr algn="l"/>
            <a:r>
              <a:rPr sz="1700" b="1" i="0">
                <a:solidFill>
                  <a:srgbClr val="1A1A1A"/>
                </a:solidFill>
              </a:rPr>
              <a:t>Developer Tool</a:t>
            </a:r>
          </a:p>
        </p:txBody>
      </p:sp>
      <p:sp>
        <p:nvSpPr>
          <p:cNvPr id="9" name="Oval 8"/>
          <p:cNvSpPr/>
          <p:nvPr/>
        </p:nvSpPr>
        <p:spPr>
          <a:xfrm>
            <a:off x="777240" y="2423160"/>
            <a:ext cx="100584" cy="100584"/>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331720"/>
            <a:ext cx="4014216" cy="475488"/>
          </a:xfrm>
          <a:prstGeom prst="rect">
            <a:avLst/>
          </a:prstGeom>
          <a:noFill/>
        </p:spPr>
        <p:txBody>
          <a:bodyPr wrap="square">
            <a:spAutoFit/>
          </a:bodyPr>
          <a:lstStyle/>
          <a:p>
            <a:pPr algn="l"/>
            <a:r>
              <a:rPr sz="1100" b="0" i="0">
                <a:solidFill>
                  <a:srgbClr val="444444"/>
                </a:solidFill>
              </a:rPr>
              <a:t>Target: engineers in a team codebase</a:t>
            </a:r>
          </a:p>
        </p:txBody>
      </p:sp>
      <p:sp>
        <p:nvSpPr>
          <p:cNvPr id="11" name="Oval 10"/>
          <p:cNvSpPr/>
          <p:nvPr/>
        </p:nvSpPr>
        <p:spPr>
          <a:xfrm>
            <a:off x="777240" y="2898648"/>
            <a:ext cx="100584" cy="100584"/>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07208"/>
            <a:ext cx="4014216" cy="475488"/>
          </a:xfrm>
          <a:prstGeom prst="rect">
            <a:avLst/>
          </a:prstGeom>
          <a:noFill/>
        </p:spPr>
        <p:txBody>
          <a:bodyPr wrap="square">
            <a:spAutoFit/>
          </a:bodyPr>
          <a:lstStyle/>
          <a:p>
            <a:pPr algn="l"/>
            <a:r>
              <a:rPr sz="1100" b="0" i="0">
                <a:solidFill>
                  <a:srgbClr val="444444"/>
                </a:solidFill>
              </a:rPr>
              <a:t>Goal: faster onboarding &amp; knowledge sharing</a:t>
            </a:r>
          </a:p>
        </p:txBody>
      </p:sp>
      <p:sp>
        <p:nvSpPr>
          <p:cNvPr id="13" name="Oval 12"/>
          <p:cNvSpPr/>
          <p:nvPr/>
        </p:nvSpPr>
        <p:spPr>
          <a:xfrm>
            <a:off x="777240" y="3374136"/>
            <a:ext cx="100584" cy="100584"/>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282696"/>
            <a:ext cx="4014216" cy="475488"/>
          </a:xfrm>
          <a:prstGeom prst="rect">
            <a:avLst/>
          </a:prstGeom>
          <a:noFill/>
        </p:spPr>
        <p:txBody>
          <a:bodyPr wrap="square">
            <a:spAutoFit/>
          </a:bodyPr>
          <a:lstStyle/>
          <a:p>
            <a:pPr algn="l"/>
            <a:r>
              <a:rPr sz="1100" b="0" i="0">
                <a:solidFill>
                  <a:srgbClr val="444444"/>
                </a:solidFill>
              </a:rPr>
              <a:t>Interface: VS Code Extension sidebar chat</a:t>
            </a:r>
          </a:p>
        </p:txBody>
      </p:sp>
      <p:sp>
        <p:nvSpPr>
          <p:cNvPr id="15" name="Oval 14"/>
          <p:cNvSpPr/>
          <p:nvPr/>
        </p:nvSpPr>
        <p:spPr>
          <a:xfrm>
            <a:off x="777240" y="3849624"/>
            <a:ext cx="100584" cy="100584"/>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758184"/>
            <a:ext cx="4014216" cy="475488"/>
          </a:xfrm>
          <a:prstGeom prst="rect">
            <a:avLst/>
          </a:prstGeom>
          <a:noFill/>
        </p:spPr>
        <p:txBody>
          <a:bodyPr wrap="square">
            <a:spAutoFit/>
          </a:bodyPr>
          <a:lstStyle/>
          <a:p>
            <a:pPr algn="l"/>
            <a:r>
              <a:rPr sz="1100" b="0" i="0">
                <a:solidFill>
                  <a:srgbClr val="444444"/>
                </a:solidFill>
              </a:rPr>
              <a:t>Requires: existing git &amp; codebase context</a:t>
            </a:r>
          </a:p>
        </p:txBody>
      </p:sp>
      <p:sp>
        <p:nvSpPr>
          <p:cNvPr id="17" name="Oval 16"/>
          <p:cNvSpPr/>
          <p:nvPr/>
        </p:nvSpPr>
        <p:spPr>
          <a:xfrm>
            <a:off x="777240" y="4325112"/>
            <a:ext cx="100584" cy="100584"/>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33672"/>
            <a:ext cx="4014216" cy="475488"/>
          </a:xfrm>
          <a:prstGeom prst="rect">
            <a:avLst/>
          </a:prstGeom>
          <a:noFill/>
        </p:spPr>
        <p:txBody>
          <a:bodyPr wrap="square">
            <a:spAutoFit/>
          </a:bodyPr>
          <a:lstStyle/>
          <a:p>
            <a:pPr algn="l"/>
            <a:r>
              <a:rPr sz="1100" b="0" i="0">
                <a:solidFill>
                  <a:srgbClr val="444444"/>
                </a:solidFill>
              </a:rPr>
              <a:t>Needs: shared DB + server for team use</a:t>
            </a:r>
          </a:p>
        </p:txBody>
      </p:sp>
      <p:sp>
        <p:nvSpPr>
          <p:cNvPr id="19" name="TextBox 18"/>
          <p:cNvSpPr txBox="1"/>
          <p:nvPr/>
        </p:nvSpPr>
        <p:spPr>
          <a:xfrm>
            <a:off x="5440680" y="3337560"/>
            <a:ext cx="1325880" cy="685800"/>
          </a:xfrm>
          <a:prstGeom prst="rect">
            <a:avLst/>
          </a:prstGeom>
          <a:noFill/>
        </p:spPr>
        <p:txBody>
          <a:bodyPr wrap="square">
            <a:spAutoFit/>
          </a:bodyPr>
          <a:lstStyle/>
          <a:p>
            <a:pPr algn="ctr"/>
            <a:r>
              <a:rPr sz="4000" b="1" i="0">
                <a:solidFill>
                  <a:srgbClr val="CC0000"/>
                </a:solidFill>
              </a:rPr>
              <a:t>-&gt;</a:t>
            </a:r>
          </a:p>
        </p:txBody>
      </p:sp>
      <p:sp>
        <p:nvSpPr>
          <p:cNvPr id="20" name="TextBox 19"/>
          <p:cNvSpPr txBox="1"/>
          <p:nvPr/>
        </p:nvSpPr>
        <p:spPr>
          <a:xfrm>
            <a:off x="5440680" y="4023360"/>
            <a:ext cx="1325880" cy="274320"/>
          </a:xfrm>
          <a:prstGeom prst="rect">
            <a:avLst/>
          </a:prstGeom>
          <a:noFill/>
        </p:spPr>
        <p:txBody>
          <a:bodyPr wrap="square">
            <a:spAutoFit/>
          </a:bodyPr>
          <a:lstStyle/>
          <a:p>
            <a:pPr algn="ctr"/>
            <a:r>
              <a:rPr sz="900" b="1" i="0">
                <a:solidFill>
                  <a:srgbClr val="CC0000"/>
                </a:solidFill>
              </a:rPr>
              <a:t>PIVOT</a:t>
            </a:r>
          </a:p>
        </p:txBody>
      </p:sp>
      <p:sp>
        <p:nvSpPr>
          <p:cNvPr id="21" name="Rectangle 20"/>
          <p:cNvSpPr/>
          <p:nvPr/>
        </p:nvSpPr>
        <p:spPr>
          <a:xfrm>
            <a:off x="6903720" y="1463040"/>
            <a:ext cx="4709160" cy="4800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1600200"/>
            <a:ext cx="4206240" cy="274320"/>
          </a:xfrm>
          <a:prstGeom prst="rect">
            <a:avLst/>
          </a:prstGeom>
          <a:noFill/>
        </p:spPr>
        <p:txBody>
          <a:bodyPr wrap="square">
            <a:spAutoFit/>
          </a:bodyPr>
          <a:lstStyle/>
          <a:p>
            <a:pPr algn="l"/>
            <a:r>
              <a:rPr sz="800" b="1" i="0">
                <a:solidFill>
                  <a:srgbClr val="FFBBBB"/>
                </a:solidFill>
              </a:rPr>
              <a:t>GIT ABSTRACTION TOOL</a:t>
            </a:r>
          </a:p>
        </p:txBody>
      </p:sp>
      <p:sp>
        <p:nvSpPr>
          <p:cNvPr id="23" name="TextBox 22"/>
          <p:cNvSpPr txBox="1"/>
          <p:nvPr/>
        </p:nvSpPr>
        <p:spPr>
          <a:xfrm>
            <a:off x="7132320" y="1874519"/>
            <a:ext cx="4206240" cy="384048"/>
          </a:xfrm>
          <a:prstGeom prst="rect">
            <a:avLst/>
          </a:prstGeom>
          <a:noFill/>
        </p:spPr>
        <p:txBody>
          <a:bodyPr wrap="square">
            <a:spAutoFit/>
          </a:bodyPr>
          <a:lstStyle/>
          <a:p>
            <a:pPr algn="l"/>
            <a:r>
              <a:rPr sz="1700" b="1" i="0">
                <a:solidFill>
                  <a:srgbClr val="FFFFFF"/>
                </a:solidFill>
              </a:rPr>
              <a:t>Non-Technical User Tool</a:t>
            </a:r>
          </a:p>
        </p:txBody>
      </p:sp>
      <p:sp>
        <p:nvSpPr>
          <p:cNvPr id="24" name="Oval 23"/>
          <p:cNvSpPr/>
          <p:nvPr/>
        </p:nvSpPr>
        <p:spPr>
          <a:xfrm>
            <a:off x="7132320" y="242316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24344" y="2331720"/>
            <a:ext cx="4014216" cy="475488"/>
          </a:xfrm>
          <a:prstGeom prst="rect">
            <a:avLst/>
          </a:prstGeom>
          <a:noFill/>
        </p:spPr>
        <p:txBody>
          <a:bodyPr wrap="square">
            <a:spAutoFit/>
          </a:bodyPr>
          <a:lstStyle/>
          <a:p>
            <a:pPr algn="l"/>
            <a:r>
              <a:rPr sz="1100" b="0" i="0">
                <a:solidFill>
                  <a:srgbClr val="FFFFFF"/>
                </a:solidFill>
              </a:rPr>
              <a:t>Target: vibe coders, designers, writers, students</a:t>
            </a:r>
          </a:p>
        </p:txBody>
      </p:sp>
      <p:sp>
        <p:nvSpPr>
          <p:cNvPr id="26" name="Oval 25"/>
          <p:cNvSpPr/>
          <p:nvPr/>
        </p:nvSpPr>
        <p:spPr>
          <a:xfrm>
            <a:off x="7132320" y="2898648"/>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24344" y="2807208"/>
            <a:ext cx="4014216" cy="475488"/>
          </a:xfrm>
          <a:prstGeom prst="rect">
            <a:avLst/>
          </a:prstGeom>
          <a:noFill/>
        </p:spPr>
        <p:txBody>
          <a:bodyPr wrap="square">
            <a:spAutoFit/>
          </a:bodyPr>
          <a:lstStyle/>
          <a:p>
            <a:pPr algn="l"/>
            <a:r>
              <a:rPr sz="1100" b="0" i="0">
                <a:solidFill>
                  <a:srgbClr val="FFFFFF"/>
                </a:solidFill>
              </a:rPr>
              <a:t>Goal: version control without knowing git</a:t>
            </a:r>
          </a:p>
        </p:txBody>
      </p:sp>
      <p:sp>
        <p:nvSpPr>
          <p:cNvPr id="28" name="Oval 27"/>
          <p:cNvSpPr/>
          <p:nvPr/>
        </p:nvSpPr>
        <p:spPr>
          <a:xfrm>
            <a:off x="7132320" y="3374136"/>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24344" y="3282696"/>
            <a:ext cx="4014216" cy="475488"/>
          </a:xfrm>
          <a:prstGeom prst="rect">
            <a:avLst/>
          </a:prstGeom>
          <a:noFill/>
        </p:spPr>
        <p:txBody>
          <a:bodyPr wrap="square">
            <a:spAutoFit/>
          </a:bodyPr>
          <a:lstStyle/>
          <a:p>
            <a:pPr algn="l"/>
            <a:r>
              <a:rPr sz="1100" b="0" i="0">
                <a:solidFill>
                  <a:srgbClr val="FFFFFF"/>
                </a:solidFill>
              </a:rPr>
              <a:t>Interface: Electron desktop app, plain language</a:t>
            </a:r>
          </a:p>
        </p:txBody>
      </p:sp>
      <p:sp>
        <p:nvSpPr>
          <p:cNvPr id="30" name="Oval 29"/>
          <p:cNvSpPr/>
          <p:nvPr/>
        </p:nvSpPr>
        <p:spPr>
          <a:xfrm>
            <a:off x="7132320" y="3849624"/>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24344" y="3758184"/>
            <a:ext cx="4014216" cy="475488"/>
          </a:xfrm>
          <a:prstGeom prst="rect">
            <a:avLst/>
          </a:prstGeom>
          <a:noFill/>
        </p:spPr>
        <p:txBody>
          <a:bodyPr wrap="square">
            <a:spAutoFit/>
          </a:bodyPr>
          <a:lstStyle/>
          <a:p>
            <a:pPr algn="l"/>
            <a:r>
              <a:rPr sz="1100" b="0" i="0">
                <a:solidFill>
                  <a:srgbClr val="FFFFFF"/>
                </a:solidFill>
              </a:rPr>
              <a:t>Requires: zero git knowledge</a:t>
            </a:r>
          </a:p>
        </p:txBody>
      </p:sp>
      <p:sp>
        <p:nvSpPr>
          <p:cNvPr id="32" name="Oval 31"/>
          <p:cNvSpPr/>
          <p:nvPr/>
        </p:nvSpPr>
        <p:spPr>
          <a:xfrm>
            <a:off x="7132320" y="4325112"/>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24344" y="4233672"/>
            <a:ext cx="4014216" cy="475488"/>
          </a:xfrm>
          <a:prstGeom prst="rect">
            <a:avLst/>
          </a:prstGeom>
          <a:noFill/>
        </p:spPr>
        <p:txBody>
          <a:bodyPr wrap="square">
            <a:spAutoFit/>
          </a:bodyPr>
          <a:lstStyle/>
          <a:p>
            <a:pPr algn="l"/>
            <a:r>
              <a:rPr sz="1100" b="0" i="0">
                <a:solidFill>
                  <a:srgbClr val="FFFFFF"/>
                </a:solidFill>
              </a:rPr>
              <a:t>Needs: local-only, no server, no cost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468880"/>
            <a:ext cx="9144000" cy="274320"/>
          </a:xfrm>
          <a:prstGeom prst="rect">
            <a:avLst/>
          </a:prstGeom>
          <a:noFill/>
        </p:spPr>
        <p:txBody>
          <a:bodyPr wrap="square">
            <a:spAutoFit/>
          </a:bodyPr>
          <a:lstStyle/>
          <a:p>
            <a:pPr algn="l"/>
            <a:r>
              <a:rPr sz="800" b="1" i="0">
                <a:solidFill>
                  <a:srgbClr val="FFCCCC"/>
                </a:solidFill>
              </a:rPr>
              <a:t>PART 3</a:t>
            </a:r>
          </a:p>
        </p:txBody>
      </p:sp>
      <p:sp>
        <p:nvSpPr>
          <p:cNvPr id="4" name="TextBox 3"/>
          <p:cNvSpPr txBox="1"/>
          <p:nvPr/>
        </p:nvSpPr>
        <p:spPr>
          <a:xfrm>
            <a:off x="914400" y="2788920"/>
            <a:ext cx="10332720" cy="1280160"/>
          </a:xfrm>
          <a:prstGeom prst="rect">
            <a:avLst/>
          </a:prstGeom>
          <a:noFill/>
        </p:spPr>
        <p:txBody>
          <a:bodyPr wrap="square">
            <a:spAutoFit/>
          </a:bodyPr>
          <a:lstStyle/>
          <a:p>
            <a:pPr algn="l"/>
            <a:r>
              <a:rPr sz="3800" b="1" i="0">
                <a:solidFill>
                  <a:srgbClr val="FFFFFF"/>
                </a:solidFill>
              </a:rPr>
              <a:t>Git Abstraction Tool</a:t>
            </a:r>
          </a:p>
        </p:txBody>
      </p:sp>
      <p:sp>
        <p:nvSpPr>
          <p:cNvPr id="5" name="TextBox 4"/>
          <p:cNvSpPr txBox="1"/>
          <p:nvPr/>
        </p:nvSpPr>
        <p:spPr>
          <a:xfrm>
            <a:off x="914400" y="3840480"/>
            <a:ext cx="8229600" cy="548640"/>
          </a:xfrm>
          <a:prstGeom prst="rect">
            <a:avLst/>
          </a:prstGeom>
          <a:noFill/>
        </p:spPr>
        <p:txBody>
          <a:bodyPr wrap="square">
            <a:spAutoFit/>
          </a:bodyPr>
          <a:lstStyle/>
          <a:p>
            <a:pPr algn="l"/>
            <a:r>
              <a:rPr sz="1700" b="0" i="0">
                <a:solidFill>
                  <a:srgbClr val="FFDDDD"/>
                </a:solidFill>
              </a:rPr>
              <a:t>What we built -- and the 6 core AI features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GIT ABSTRACTION TOOL -- OVERVIEW</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What It Is</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5394960" cy="1280160"/>
          </a:xfrm>
          <a:prstGeom prst="rect">
            <a:avLst/>
          </a:prstGeom>
          <a:noFill/>
        </p:spPr>
        <p:txBody>
          <a:bodyPr wrap="square">
            <a:spAutoFit/>
          </a:bodyPr>
          <a:lstStyle/>
          <a:p>
            <a:pPr algn="l"/>
            <a:r>
              <a:rPr sz="1200" b="0" i="0">
                <a:solidFill>
                  <a:srgbClr val="444444"/>
                </a:solidFill>
              </a:rPr>
              <a:t>A cross-platform Electron desktop app that wraps git in a plain-language interface. No terminal. No git jargon. No learning curve.
Built local-first: full version control works offline. AI features are optional enhancements layered on top, never requirements.</a:t>
            </a:r>
          </a:p>
        </p:txBody>
      </p:sp>
      <p:sp>
        <p:nvSpPr>
          <p:cNvPr id="7" name="TextBox 6"/>
          <p:cNvSpPr txBox="1"/>
          <p:nvPr/>
        </p:nvSpPr>
        <p:spPr>
          <a:xfrm>
            <a:off x="548640" y="2880360"/>
            <a:ext cx="1463040" cy="566928"/>
          </a:xfrm>
          <a:prstGeom prst="rect">
            <a:avLst/>
          </a:prstGeom>
          <a:noFill/>
        </p:spPr>
        <p:txBody>
          <a:bodyPr wrap="square">
            <a:spAutoFit/>
          </a:bodyPr>
          <a:lstStyle/>
          <a:p>
            <a:pPr algn="ctr"/>
            <a:r>
              <a:rPr sz="3400" b="1" i="0">
                <a:solidFill>
                  <a:srgbClr val="CC0000"/>
                </a:solidFill>
              </a:rPr>
              <a:t>0</a:t>
            </a:r>
          </a:p>
        </p:txBody>
      </p:sp>
      <p:sp>
        <p:nvSpPr>
          <p:cNvPr id="8" name="TextBox 7"/>
          <p:cNvSpPr txBox="1"/>
          <p:nvPr/>
        </p:nvSpPr>
        <p:spPr>
          <a:xfrm>
            <a:off x="548640" y="3429000"/>
            <a:ext cx="1463040" cy="457200"/>
          </a:xfrm>
          <a:prstGeom prst="rect">
            <a:avLst/>
          </a:prstGeom>
          <a:noFill/>
        </p:spPr>
        <p:txBody>
          <a:bodyPr wrap="square">
            <a:spAutoFit/>
          </a:bodyPr>
          <a:lstStyle/>
          <a:p>
            <a:pPr algn="ctr"/>
            <a:r>
              <a:rPr sz="1000" b="0" i="0">
                <a:solidFill>
                  <a:srgbClr val="888888"/>
                </a:solidFill>
              </a:rPr>
              <a:t>git knowledge
required</a:t>
            </a:r>
          </a:p>
        </p:txBody>
      </p:sp>
      <p:sp>
        <p:nvSpPr>
          <p:cNvPr id="9" name="TextBox 8"/>
          <p:cNvSpPr txBox="1"/>
          <p:nvPr/>
        </p:nvSpPr>
        <p:spPr>
          <a:xfrm>
            <a:off x="2121408" y="2880360"/>
            <a:ext cx="1463040" cy="566928"/>
          </a:xfrm>
          <a:prstGeom prst="rect">
            <a:avLst/>
          </a:prstGeom>
          <a:noFill/>
        </p:spPr>
        <p:txBody>
          <a:bodyPr wrap="square">
            <a:spAutoFit/>
          </a:bodyPr>
          <a:lstStyle/>
          <a:p>
            <a:pPr algn="ctr"/>
            <a:r>
              <a:rPr sz="3400" b="1" i="0">
                <a:solidFill>
                  <a:srgbClr val="CC0000"/>
                </a:solidFill>
              </a:rPr>
              <a:t>6</a:t>
            </a:r>
          </a:p>
        </p:txBody>
      </p:sp>
      <p:sp>
        <p:nvSpPr>
          <p:cNvPr id="10" name="TextBox 9"/>
          <p:cNvSpPr txBox="1"/>
          <p:nvPr/>
        </p:nvSpPr>
        <p:spPr>
          <a:xfrm>
            <a:off x="2121408" y="3429000"/>
            <a:ext cx="1463040" cy="457200"/>
          </a:xfrm>
          <a:prstGeom prst="rect">
            <a:avLst/>
          </a:prstGeom>
          <a:noFill/>
        </p:spPr>
        <p:txBody>
          <a:bodyPr wrap="square">
            <a:spAutoFit/>
          </a:bodyPr>
          <a:lstStyle/>
          <a:p>
            <a:pPr algn="ctr"/>
            <a:r>
              <a:rPr sz="1000" b="0" i="0">
                <a:solidFill>
                  <a:srgbClr val="888888"/>
                </a:solidFill>
              </a:rPr>
              <a:t>AI-powered
features</a:t>
            </a:r>
          </a:p>
        </p:txBody>
      </p:sp>
      <p:sp>
        <p:nvSpPr>
          <p:cNvPr id="11" name="TextBox 10"/>
          <p:cNvSpPr txBox="1"/>
          <p:nvPr/>
        </p:nvSpPr>
        <p:spPr>
          <a:xfrm>
            <a:off x="3694176" y="2880360"/>
            <a:ext cx="1463040" cy="566928"/>
          </a:xfrm>
          <a:prstGeom prst="rect">
            <a:avLst/>
          </a:prstGeom>
          <a:noFill/>
        </p:spPr>
        <p:txBody>
          <a:bodyPr wrap="square">
            <a:spAutoFit/>
          </a:bodyPr>
          <a:lstStyle/>
          <a:p>
            <a:pPr algn="ctr"/>
            <a:r>
              <a:rPr sz="3400" b="1" i="0">
                <a:solidFill>
                  <a:srgbClr val="CC0000"/>
                </a:solidFill>
              </a:rPr>
              <a:t>2</a:t>
            </a:r>
          </a:p>
        </p:txBody>
      </p:sp>
      <p:sp>
        <p:nvSpPr>
          <p:cNvPr id="12" name="TextBox 11"/>
          <p:cNvSpPr txBox="1"/>
          <p:nvPr/>
        </p:nvSpPr>
        <p:spPr>
          <a:xfrm>
            <a:off x="3694176" y="3429000"/>
            <a:ext cx="1463040" cy="457200"/>
          </a:xfrm>
          <a:prstGeom prst="rect">
            <a:avLst/>
          </a:prstGeom>
          <a:noFill/>
        </p:spPr>
        <p:txBody>
          <a:bodyPr wrap="square">
            <a:spAutoFit/>
          </a:bodyPr>
          <a:lstStyle/>
          <a:p>
            <a:pPr algn="ctr"/>
            <a:r>
              <a:rPr sz="1000" b="0" i="0">
                <a:solidFill>
                  <a:srgbClr val="888888"/>
                </a:solidFill>
              </a:rPr>
              <a:t>languages / EN+KO</a:t>
            </a:r>
          </a:p>
        </p:txBody>
      </p:sp>
      <p:sp>
        <p:nvSpPr>
          <p:cNvPr id="13" name="Oval 12"/>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63040"/>
            <a:ext cx="5385816" cy="438912"/>
          </a:xfrm>
          <a:prstGeom prst="rect">
            <a:avLst/>
          </a:prstGeom>
          <a:noFill/>
        </p:spPr>
        <p:txBody>
          <a:bodyPr wrap="square">
            <a:spAutoFit/>
          </a:bodyPr>
          <a:lstStyle/>
          <a:p>
            <a:pPr algn="l"/>
            <a:r>
              <a:rPr sz="1200" b="0" i="0">
                <a:solidFill>
                  <a:srgbClr val="444444"/>
                </a:solidFill>
              </a:rPr>
              <a:t>Save Progress -- one-click local snapshot (git commit)</a:t>
            </a:r>
          </a:p>
        </p:txBody>
      </p:sp>
      <p:sp>
        <p:nvSpPr>
          <p:cNvPr id="15" name="Oval 14"/>
          <p:cNvSpPr/>
          <p:nvPr/>
        </p:nvSpPr>
        <p:spPr>
          <a:xfrm>
            <a:off x="6400800" y="199339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1901952"/>
            <a:ext cx="5385816" cy="438912"/>
          </a:xfrm>
          <a:prstGeom prst="rect">
            <a:avLst/>
          </a:prstGeom>
          <a:noFill/>
        </p:spPr>
        <p:txBody>
          <a:bodyPr wrap="square">
            <a:spAutoFit/>
          </a:bodyPr>
          <a:lstStyle/>
          <a:p>
            <a:pPr algn="l"/>
            <a:r>
              <a:rPr sz="1200" b="0" i="0">
                <a:solidFill>
                  <a:srgbClr val="444444"/>
                </a:solidFill>
              </a:rPr>
              <a:t>Full File Visibility -- tracked, staged, untracked in one panel</a:t>
            </a:r>
          </a:p>
        </p:txBody>
      </p:sp>
      <p:sp>
        <p:nvSpPr>
          <p:cNvPr id="17" name="Oval 16"/>
          <p:cNvSpPr/>
          <p:nvPr/>
        </p:nvSpPr>
        <p:spPr>
          <a:xfrm>
            <a:off x="6400800" y="243230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2340864"/>
            <a:ext cx="5385816" cy="438912"/>
          </a:xfrm>
          <a:prstGeom prst="rect">
            <a:avLst/>
          </a:prstGeom>
          <a:noFill/>
        </p:spPr>
        <p:txBody>
          <a:bodyPr wrap="square">
            <a:spAutoFit/>
          </a:bodyPr>
          <a:lstStyle/>
          <a:p>
            <a:pPr algn="l"/>
            <a:r>
              <a:rPr sz="1200" b="0" i="0">
                <a:solidFill>
                  <a:srgbClr val="444444"/>
                </a:solidFill>
              </a:rPr>
              <a:t>Safe Operations -- explicit confirmation for every risky action; no auto force-push</a:t>
            </a:r>
          </a:p>
        </p:txBody>
      </p:sp>
      <p:sp>
        <p:nvSpPr>
          <p:cNvPr id="19" name="Oval 18"/>
          <p:cNvSpPr/>
          <p:nvPr/>
        </p:nvSpPr>
        <p:spPr>
          <a:xfrm>
            <a:off x="6400800" y="287121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2824" y="2779776"/>
            <a:ext cx="5385816" cy="438912"/>
          </a:xfrm>
          <a:prstGeom prst="rect">
            <a:avLst/>
          </a:prstGeom>
          <a:noFill/>
        </p:spPr>
        <p:txBody>
          <a:bodyPr wrap="square">
            <a:spAutoFit/>
          </a:bodyPr>
          <a:lstStyle/>
          <a:p>
            <a:pPr algn="l"/>
            <a:r>
              <a:rPr sz="1200" b="0" i="0">
                <a:solidFill>
                  <a:srgbClr val="444444"/>
                </a:solidFill>
              </a:rPr>
              <a:t>Pull Preview -- inspect incoming changes before merging</a:t>
            </a:r>
          </a:p>
        </p:txBody>
      </p:sp>
      <p:sp>
        <p:nvSpPr>
          <p:cNvPr id="21" name="Oval 20"/>
          <p:cNvSpPr/>
          <p:nvPr/>
        </p:nvSpPr>
        <p:spPr>
          <a:xfrm>
            <a:off x="6400800" y="331012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2824" y="3218688"/>
            <a:ext cx="5385816" cy="438912"/>
          </a:xfrm>
          <a:prstGeom prst="rect">
            <a:avLst/>
          </a:prstGeom>
          <a:noFill/>
        </p:spPr>
        <p:txBody>
          <a:bodyPr wrap="square">
            <a:spAutoFit/>
          </a:bodyPr>
          <a:lstStyle/>
          <a:p>
            <a:pPr algn="l"/>
            <a:r>
              <a:rPr sz="1200" b="0" i="0">
                <a:solidFill>
                  <a:srgbClr val="444444"/>
                </a:solidFill>
              </a:rPr>
              <a:t>Bilingual UI -- English &amp; Korean, beginner-friendly terminology</a:t>
            </a:r>
          </a:p>
        </p:txBody>
      </p:sp>
      <p:sp>
        <p:nvSpPr>
          <p:cNvPr id="23" name="Oval 22"/>
          <p:cNvSpPr/>
          <p:nvPr/>
        </p:nvSpPr>
        <p:spPr>
          <a:xfrm>
            <a:off x="6400800" y="37490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3657600"/>
            <a:ext cx="5385816" cy="438912"/>
          </a:xfrm>
          <a:prstGeom prst="rect">
            <a:avLst/>
          </a:prstGeom>
          <a:noFill/>
        </p:spPr>
        <p:txBody>
          <a:bodyPr wrap="square">
            <a:spAutoFit/>
          </a:bodyPr>
          <a:lstStyle/>
          <a:p>
            <a:pPr algn="l"/>
            <a:r>
              <a:rPr sz="1200" b="0" i="0">
                <a:solidFill>
                  <a:srgbClr val="444444"/>
                </a:solidFill>
              </a:rPr>
              <a:t>Bring your own AI key -- OpenAI or Anthropic, stored encrypted locally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GIT ABSTRACTION TOOL -- ARCHITECTURE</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How It's Built</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96114" y="1828800"/>
            <a:ext cx="1874519" cy="13258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4" y="1993392"/>
            <a:ext cx="1874519" cy="365760"/>
          </a:xfrm>
          <a:prstGeom prst="rect">
            <a:avLst/>
          </a:prstGeom>
          <a:noFill/>
        </p:spPr>
        <p:txBody>
          <a:bodyPr wrap="square">
            <a:spAutoFit/>
          </a:bodyPr>
          <a:lstStyle/>
          <a:p>
            <a:pPr algn="ctr"/>
            <a:r>
              <a:rPr sz="1300" b="1" i="0">
                <a:solidFill>
                  <a:srgbClr val="1A1A1A"/>
                </a:solidFill>
              </a:rPr>
              <a:t>React UI</a:t>
            </a:r>
          </a:p>
        </p:txBody>
      </p:sp>
      <p:sp>
        <p:nvSpPr>
          <p:cNvPr id="8" name="TextBox 7"/>
          <p:cNvSpPr txBox="1"/>
          <p:nvPr/>
        </p:nvSpPr>
        <p:spPr>
          <a:xfrm>
            <a:off x="896114" y="2359152"/>
            <a:ext cx="1874519" cy="292608"/>
          </a:xfrm>
          <a:prstGeom prst="rect">
            <a:avLst/>
          </a:prstGeom>
          <a:noFill/>
        </p:spPr>
        <p:txBody>
          <a:bodyPr wrap="square">
            <a:spAutoFit/>
          </a:bodyPr>
          <a:lstStyle/>
          <a:p>
            <a:pPr algn="ctr"/>
            <a:r>
              <a:rPr sz="1000" b="0" i="0">
                <a:solidFill>
                  <a:srgbClr val="888888"/>
                </a:solidFill>
              </a:rPr>
              <a:t>Renderer Process</a:t>
            </a:r>
          </a:p>
        </p:txBody>
      </p:sp>
      <p:sp>
        <p:nvSpPr>
          <p:cNvPr id="9" name="TextBox 8"/>
          <p:cNvSpPr txBox="1"/>
          <p:nvPr/>
        </p:nvSpPr>
        <p:spPr>
          <a:xfrm>
            <a:off x="2807209" y="2286000"/>
            <a:ext cx="219456" cy="365760"/>
          </a:xfrm>
          <a:prstGeom prst="rect">
            <a:avLst/>
          </a:prstGeom>
          <a:noFill/>
        </p:spPr>
        <p:txBody>
          <a:bodyPr wrap="square">
            <a:spAutoFit/>
          </a:bodyPr>
          <a:lstStyle/>
          <a:p>
            <a:pPr algn="ctr"/>
            <a:r>
              <a:rPr sz="1800" b="1" i="0">
                <a:solidFill>
                  <a:srgbClr val="CC0000"/>
                </a:solidFill>
              </a:rPr>
              <a:t>-&gt;</a:t>
            </a:r>
          </a:p>
        </p:txBody>
      </p:sp>
      <p:sp>
        <p:nvSpPr>
          <p:cNvPr id="10" name="Rectangle 9"/>
          <p:cNvSpPr/>
          <p:nvPr/>
        </p:nvSpPr>
        <p:spPr>
          <a:xfrm>
            <a:off x="3026665" y="1828800"/>
            <a:ext cx="1874519" cy="13258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26665" y="1993392"/>
            <a:ext cx="1874519" cy="365760"/>
          </a:xfrm>
          <a:prstGeom prst="rect">
            <a:avLst/>
          </a:prstGeom>
          <a:noFill/>
        </p:spPr>
        <p:txBody>
          <a:bodyPr wrap="square">
            <a:spAutoFit/>
          </a:bodyPr>
          <a:lstStyle/>
          <a:p>
            <a:pPr algn="ctr"/>
            <a:r>
              <a:rPr sz="1300" b="1" i="0">
                <a:solidFill>
                  <a:srgbClr val="1A1A1A"/>
                </a:solidFill>
              </a:rPr>
              <a:t>Electron IPC</a:t>
            </a:r>
          </a:p>
        </p:txBody>
      </p:sp>
      <p:sp>
        <p:nvSpPr>
          <p:cNvPr id="12" name="TextBox 11"/>
          <p:cNvSpPr txBox="1"/>
          <p:nvPr/>
        </p:nvSpPr>
        <p:spPr>
          <a:xfrm>
            <a:off x="3026665" y="2359152"/>
            <a:ext cx="1874519" cy="292608"/>
          </a:xfrm>
          <a:prstGeom prst="rect">
            <a:avLst/>
          </a:prstGeom>
          <a:noFill/>
        </p:spPr>
        <p:txBody>
          <a:bodyPr wrap="square">
            <a:spAutoFit/>
          </a:bodyPr>
          <a:lstStyle/>
          <a:p>
            <a:pPr algn="ctr"/>
            <a:r>
              <a:rPr sz="1000" b="0" i="0">
                <a:solidFill>
                  <a:srgbClr val="888888"/>
                </a:solidFill>
              </a:rPr>
              <a:t>Secure Bridge</a:t>
            </a:r>
          </a:p>
        </p:txBody>
      </p:sp>
      <p:sp>
        <p:nvSpPr>
          <p:cNvPr id="13" name="TextBox 12"/>
          <p:cNvSpPr txBox="1"/>
          <p:nvPr/>
        </p:nvSpPr>
        <p:spPr>
          <a:xfrm>
            <a:off x="4937760" y="2286000"/>
            <a:ext cx="219456" cy="365760"/>
          </a:xfrm>
          <a:prstGeom prst="rect">
            <a:avLst/>
          </a:prstGeom>
          <a:noFill/>
        </p:spPr>
        <p:txBody>
          <a:bodyPr wrap="square">
            <a:spAutoFit/>
          </a:bodyPr>
          <a:lstStyle/>
          <a:p>
            <a:pPr algn="ctr"/>
            <a:r>
              <a:rPr sz="1800" b="1" i="0">
                <a:solidFill>
                  <a:srgbClr val="CC0000"/>
                </a:solidFill>
              </a:rPr>
              <a:t>-&gt;</a:t>
            </a:r>
          </a:p>
        </p:txBody>
      </p:sp>
      <p:sp>
        <p:nvSpPr>
          <p:cNvPr id="14" name="Rectangle 13"/>
          <p:cNvSpPr/>
          <p:nvPr/>
        </p:nvSpPr>
        <p:spPr>
          <a:xfrm>
            <a:off x="5157216" y="1828800"/>
            <a:ext cx="1874519" cy="13258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7216" y="1993392"/>
            <a:ext cx="1874519" cy="365760"/>
          </a:xfrm>
          <a:prstGeom prst="rect">
            <a:avLst/>
          </a:prstGeom>
          <a:noFill/>
        </p:spPr>
        <p:txBody>
          <a:bodyPr wrap="square">
            <a:spAutoFit/>
          </a:bodyPr>
          <a:lstStyle/>
          <a:p>
            <a:pPr algn="ctr"/>
            <a:r>
              <a:rPr sz="1300" b="1" i="0">
                <a:solidFill>
                  <a:srgbClr val="1A1A1A"/>
                </a:solidFill>
              </a:rPr>
              <a:t>Git Service</a:t>
            </a:r>
          </a:p>
        </p:txBody>
      </p:sp>
      <p:sp>
        <p:nvSpPr>
          <p:cNvPr id="16" name="TextBox 15"/>
          <p:cNvSpPr txBox="1"/>
          <p:nvPr/>
        </p:nvSpPr>
        <p:spPr>
          <a:xfrm>
            <a:off x="5157216" y="2359152"/>
            <a:ext cx="1874519" cy="292608"/>
          </a:xfrm>
          <a:prstGeom prst="rect">
            <a:avLst/>
          </a:prstGeom>
          <a:noFill/>
        </p:spPr>
        <p:txBody>
          <a:bodyPr wrap="square">
            <a:spAutoFit/>
          </a:bodyPr>
          <a:lstStyle/>
          <a:p>
            <a:pPr algn="ctr"/>
            <a:r>
              <a:rPr sz="1000" b="0" i="0">
                <a:solidFill>
                  <a:srgbClr val="888888"/>
                </a:solidFill>
              </a:rPr>
              <a:t>simple-git / Main</a:t>
            </a:r>
          </a:p>
        </p:txBody>
      </p:sp>
      <p:sp>
        <p:nvSpPr>
          <p:cNvPr id="17" name="TextBox 16"/>
          <p:cNvSpPr txBox="1"/>
          <p:nvPr/>
        </p:nvSpPr>
        <p:spPr>
          <a:xfrm>
            <a:off x="7068311" y="2286000"/>
            <a:ext cx="219456" cy="365760"/>
          </a:xfrm>
          <a:prstGeom prst="rect">
            <a:avLst/>
          </a:prstGeom>
          <a:noFill/>
        </p:spPr>
        <p:txBody>
          <a:bodyPr wrap="square">
            <a:spAutoFit/>
          </a:bodyPr>
          <a:lstStyle/>
          <a:p>
            <a:pPr algn="ctr"/>
            <a:r>
              <a:rPr sz="1800" b="1" i="0">
                <a:solidFill>
                  <a:srgbClr val="CC0000"/>
                </a:solidFill>
              </a:rPr>
              <a:t>-&gt;</a:t>
            </a:r>
          </a:p>
        </p:txBody>
      </p:sp>
      <p:sp>
        <p:nvSpPr>
          <p:cNvPr id="18" name="Rectangle 17"/>
          <p:cNvSpPr/>
          <p:nvPr/>
        </p:nvSpPr>
        <p:spPr>
          <a:xfrm>
            <a:off x="7287767" y="1828800"/>
            <a:ext cx="1874519" cy="13258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7767" y="1993392"/>
            <a:ext cx="1874519" cy="365760"/>
          </a:xfrm>
          <a:prstGeom prst="rect">
            <a:avLst/>
          </a:prstGeom>
          <a:noFill/>
        </p:spPr>
        <p:txBody>
          <a:bodyPr wrap="square">
            <a:spAutoFit/>
          </a:bodyPr>
          <a:lstStyle/>
          <a:p>
            <a:pPr algn="ctr"/>
            <a:r>
              <a:rPr sz="1300" b="1" i="0">
                <a:solidFill>
                  <a:srgbClr val="1A1A1A"/>
                </a:solidFill>
              </a:rPr>
              <a:t>SQLite DB</a:t>
            </a:r>
          </a:p>
        </p:txBody>
      </p:sp>
      <p:sp>
        <p:nvSpPr>
          <p:cNvPr id="20" name="TextBox 19"/>
          <p:cNvSpPr txBox="1"/>
          <p:nvPr/>
        </p:nvSpPr>
        <p:spPr>
          <a:xfrm>
            <a:off x="7287767" y="2359152"/>
            <a:ext cx="1874519" cy="292608"/>
          </a:xfrm>
          <a:prstGeom prst="rect">
            <a:avLst/>
          </a:prstGeom>
          <a:noFill/>
        </p:spPr>
        <p:txBody>
          <a:bodyPr wrap="square">
            <a:spAutoFit/>
          </a:bodyPr>
          <a:lstStyle/>
          <a:p>
            <a:pPr algn="ctr"/>
            <a:r>
              <a:rPr sz="1000" b="0" i="0">
                <a:solidFill>
                  <a:srgbClr val="888888"/>
                </a:solidFill>
              </a:rPr>
              <a:t>Local - No Server</a:t>
            </a:r>
          </a:p>
        </p:txBody>
      </p:sp>
      <p:sp>
        <p:nvSpPr>
          <p:cNvPr id="21" name="TextBox 20"/>
          <p:cNvSpPr txBox="1"/>
          <p:nvPr/>
        </p:nvSpPr>
        <p:spPr>
          <a:xfrm>
            <a:off x="9198862" y="2286000"/>
            <a:ext cx="219456" cy="365760"/>
          </a:xfrm>
          <a:prstGeom prst="rect">
            <a:avLst/>
          </a:prstGeom>
          <a:noFill/>
        </p:spPr>
        <p:txBody>
          <a:bodyPr wrap="square">
            <a:spAutoFit/>
          </a:bodyPr>
          <a:lstStyle/>
          <a:p>
            <a:pPr algn="ctr"/>
            <a:r>
              <a:rPr sz="1800" b="1" i="0">
                <a:solidFill>
                  <a:srgbClr val="CC0000"/>
                </a:solidFill>
              </a:rPr>
              <a:t>-&gt;</a:t>
            </a:r>
          </a:p>
        </p:txBody>
      </p:sp>
      <p:sp>
        <p:nvSpPr>
          <p:cNvPr id="22" name="Rectangle 21"/>
          <p:cNvSpPr/>
          <p:nvPr/>
        </p:nvSpPr>
        <p:spPr>
          <a:xfrm>
            <a:off x="9418318" y="1828800"/>
            <a:ext cx="1874519" cy="13258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18" y="1993392"/>
            <a:ext cx="1874519" cy="365760"/>
          </a:xfrm>
          <a:prstGeom prst="rect">
            <a:avLst/>
          </a:prstGeom>
          <a:noFill/>
        </p:spPr>
        <p:txBody>
          <a:bodyPr wrap="square">
            <a:spAutoFit/>
          </a:bodyPr>
          <a:lstStyle/>
          <a:p>
            <a:pPr algn="ctr"/>
            <a:r>
              <a:rPr sz="1300" b="1" i="0">
                <a:solidFill>
                  <a:srgbClr val="1A1A1A"/>
                </a:solidFill>
              </a:rPr>
              <a:t>AI Layer</a:t>
            </a:r>
          </a:p>
        </p:txBody>
      </p:sp>
      <p:sp>
        <p:nvSpPr>
          <p:cNvPr id="24" name="TextBox 23"/>
          <p:cNvSpPr txBox="1"/>
          <p:nvPr/>
        </p:nvSpPr>
        <p:spPr>
          <a:xfrm>
            <a:off x="9418318" y="2359152"/>
            <a:ext cx="1874519" cy="292608"/>
          </a:xfrm>
          <a:prstGeom prst="rect">
            <a:avLst/>
          </a:prstGeom>
          <a:noFill/>
        </p:spPr>
        <p:txBody>
          <a:bodyPr wrap="square">
            <a:spAutoFit/>
          </a:bodyPr>
          <a:lstStyle/>
          <a:p>
            <a:pPr algn="ctr"/>
            <a:r>
              <a:rPr sz="1000" b="0" i="0">
                <a:solidFill>
                  <a:srgbClr val="888888"/>
                </a:solidFill>
              </a:rPr>
              <a:t>OpenAI / Anthropic</a:t>
            </a:r>
          </a:p>
        </p:txBody>
      </p:sp>
      <p:sp>
        <p:nvSpPr>
          <p:cNvPr id="25" name="Rectangle 24"/>
          <p:cNvSpPr/>
          <p:nvPr/>
        </p:nvSpPr>
        <p:spPr>
          <a:xfrm>
            <a:off x="548640" y="3401568"/>
            <a:ext cx="36576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01568"/>
            <a:ext cx="64008" cy="914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493008"/>
            <a:ext cx="3429000" cy="301752"/>
          </a:xfrm>
          <a:prstGeom prst="rect">
            <a:avLst/>
          </a:prstGeom>
          <a:noFill/>
        </p:spPr>
        <p:txBody>
          <a:bodyPr wrap="square">
            <a:spAutoFit/>
          </a:bodyPr>
          <a:lstStyle/>
          <a:p>
            <a:pPr algn="l"/>
            <a:r>
              <a:rPr sz="1100" b="1" i="0">
                <a:solidFill>
                  <a:srgbClr val="1A1A1A"/>
                </a:solidFill>
              </a:rPr>
              <a:t>Frontend</a:t>
            </a:r>
          </a:p>
        </p:txBody>
      </p:sp>
      <p:sp>
        <p:nvSpPr>
          <p:cNvPr id="28" name="TextBox 27"/>
          <p:cNvSpPr txBox="1"/>
          <p:nvPr/>
        </p:nvSpPr>
        <p:spPr>
          <a:xfrm>
            <a:off x="704088" y="3785616"/>
            <a:ext cx="3429000" cy="457200"/>
          </a:xfrm>
          <a:prstGeom prst="rect">
            <a:avLst/>
          </a:prstGeom>
          <a:noFill/>
        </p:spPr>
        <p:txBody>
          <a:bodyPr wrap="square">
            <a:spAutoFit/>
          </a:bodyPr>
          <a:lstStyle/>
          <a:p>
            <a:pPr algn="l"/>
            <a:r>
              <a:rPr sz="1000" b="0" i="0">
                <a:solidFill>
                  <a:srgbClr val="444444"/>
                </a:solidFill>
              </a:rPr>
              <a:t>React + TypeScript, i18n (EN/KO), Tailwind -- renders in browser process</a:t>
            </a:r>
          </a:p>
        </p:txBody>
      </p:sp>
      <p:sp>
        <p:nvSpPr>
          <p:cNvPr id="29" name="Rectangle 28"/>
          <p:cNvSpPr/>
          <p:nvPr/>
        </p:nvSpPr>
        <p:spPr>
          <a:xfrm>
            <a:off x="4389120" y="3401568"/>
            <a:ext cx="36576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0" y="3401568"/>
            <a:ext cx="64008" cy="914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3493008"/>
            <a:ext cx="3429000" cy="301752"/>
          </a:xfrm>
          <a:prstGeom prst="rect">
            <a:avLst/>
          </a:prstGeom>
          <a:noFill/>
        </p:spPr>
        <p:txBody>
          <a:bodyPr wrap="square">
            <a:spAutoFit/>
          </a:bodyPr>
          <a:lstStyle/>
          <a:p>
            <a:pPr algn="l"/>
            <a:r>
              <a:rPr sz="1100" b="1" i="0">
                <a:solidFill>
                  <a:srgbClr val="1A1A1A"/>
                </a:solidFill>
              </a:rPr>
              <a:t>Backend</a:t>
            </a:r>
          </a:p>
        </p:txBody>
      </p:sp>
      <p:sp>
        <p:nvSpPr>
          <p:cNvPr id="32" name="TextBox 31"/>
          <p:cNvSpPr txBox="1"/>
          <p:nvPr/>
        </p:nvSpPr>
        <p:spPr>
          <a:xfrm>
            <a:off x="4544568" y="3785616"/>
            <a:ext cx="3429000" cy="457200"/>
          </a:xfrm>
          <a:prstGeom prst="rect">
            <a:avLst/>
          </a:prstGeom>
          <a:noFill/>
        </p:spPr>
        <p:txBody>
          <a:bodyPr wrap="square">
            <a:spAutoFit/>
          </a:bodyPr>
          <a:lstStyle/>
          <a:p>
            <a:pPr algn="l"/>
            <a:r>
              <a:rPr sz="1000" b="0" i="0">
                <a:solidFill>
                  <a:srgbClr val="444444"/>
                </a:solidFill>
              </a:rPr>
              <a:t>Electron main process handles all git ops, DB access, secret storage</a:t>
            </a:r>
          </a:p>
        </p:txBody>
      </p:sp>
      <p:sp>
        <p:nvSpPr>
          <p:cNvPr id="33" name="Rectangle 32"/>
          <p:cNvSpPr/>
          <p:nvPr/>
        </p:nvSpPr>
        <p:spPr>
          <a:xfrm>
            <a:off x="8229600" y="3401568"/>
            <a:ext cx="36576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0" y="3401568"/>
            <a:ext cx="64008" cy="914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85048" y="3493008"/>
            <a:ext cx="3429000" cy="301752"/>
          </a:xfrm>
          <a:prstGeom prst="rect">
            <a:avLst/>
          </a:prstGeom>
          <a:noFill/>
        </p:spPr>
        <p:txBody>
          <a:bodyPr wrap="square">
            <a:spAutoFit/>
          </a:bodyPr>
          <a:lstStyle/>
          <a:p>
            <a:pPr algn="l"/>
            <a:r>
              <a:rPr sz="1100" b="1" i="0">
                <a:solidFill>
                  <a:srgbClr val="1A1A1A"/>
                </a:solidFill>
              </a:rPr>
              <a:t>AI</a:t>
            </a:r>
          </a:p>
        </p:txBody>
      </p:sp>
      <p:sp>
        <p:nvSpPr>
          <p:cNvPr id="36" name="TextBox 35"/>
          <p:cNvSpPr txBox="1"/>
          <p:nvPr/>
        </p:nvSpPr>
        <p:spPr>
          <a:xfrm>
            <a:off x="8385048" y="3785616"/>
            <a:ext cx="3429000" cy="457200"/>
          </a:xfrm>
          <a:prstGeom prst="rect">
            <a:avLst/>
          </a:prstGeom>
          <a:noFill/>
        </p:spPr>
        <p:txBody>
          <a:bodyPr wrap="square">
            <a:spAutoFit/>
          </a:bodyPr>
          <a:lstStyle/>
          <a:p>
            <a:pPr algn="l"/>
            <a:r>
              <a:rPr sz="1000" b="0" i="0">
                <a:solidFill>
                  <a:srgbClr val="444444"/>
                </a:solidFill>
              </a:rPr>
              <a:t>Modular provider adapters; OS-encrypted key storage; graceful degradation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20240"/>
            <a:ext cx="10058400" cy="274320"/>
          </a:xfrm>
          <a:prstGeom prst="rect">
            <a:avLst/>
          </a:prstGeom>
          <a:noFill/>
        </p:spPr>
        <p:txBody>
          <a:bodyPr wrap="square">
            <a:spAutoFit/>
          </a:bodyPr>
          <a:lstStyle/>
          <a:p>
            <a:pPr algn="l"/>
            <a:r>
              <a:rPr sz="800" b="1" i="0">
                <a:solidFill>
                  <a:srgbClr val="FFCCCC"/>
                </a:solidFill>
              </a:rPr>
              <a:t>GIT ABSTRACTION TOOL -- AI FEATURES</a:t>
            </a:r>
          </a:p>
        </p:txBody>
      </p:sp>
      <p:sp>
        <p:nvSpPr>
          <p:cNvPr id="4" name="TextBox 3"/>
          <p:cNvSpPr txBox="1"/>
          <p:nvPr/>
        </p:nvSpPr>
        <p:spPr>
          <a:xfrm>
            <a:off x="914400" y="2286000"/>
            <a:ext cx="10332720" cy="1280160"/>
          </a:xfrm>
          <a:prstGeom prst="rect">
            <a:avLst/>
          </a:prstGeom>
          <a:noFill/>
        </p:spPr>
        <p:txBody>
          <a:bodyPr wrap="square">
            <a:spAutoFit/>
          </a:bodyPr>
          <a:lstStyle/>
          <a:p>
            <a:pPr algn="l"/>
            <a:r>
              <a:rPr sz="3800" b="1" i="0">
                <a:solidFill>
                  <a:srgbClr val="FFFFFF"/>
                </a:solidFill>
              </a:rPr>
              <a:t>6 Core AI Components</a:t>
            </a:r>
          </a:p>
        </p:txBody>
      </p:sp>
      <p:sp>
        <p:nvSpPr>
          <p:cNvPr id="5" name="TextBox 4"/>
          <p:cNvSpPr txBox="1"/>
          <p:nvPr/>
        </p:nvSpPr>
        <p:spPr>
          <a:xfrm>
            <a:off x="914400" y="3429000"/>
            <a:ext cx="10058400" cy="502920"/>
          </a:xfrm>
          <a:prstGeom prst="rect">
            <a:avLst/>
          </a:prstGeom>
          <a:noFill/>
        </p:spPr>
        <p:txBody>
          <a:bodyPr wrap="square">
            <a:spAutoFit/>
          </a:bodyPr>
          <a:lstStyle/>
          <a:p>
            <a:pPr algn="l"/>
            <a:r>
              <a:rPr sz="1600" b="0" i="0">
                <a:solidFill>
                  <a:srgbClr val="FFDDDD"/>
                </a:solidFill>
              </a:rPr>
              <a:t>All optional  |  All privacy-preserving  |  All with graceful fallback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92024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
            <a:ext cx="1737360" cy="228600"/>
          </a:xfrm>
          <a:prstGeom prst="rect">
            <a:avLst/>
          </a:prstGeom>
          <a:noFill/>
        </p:spPr>
        <p:txBody>
          <a:bodyPr wrap="square">
            <a:spAutoFit/>
          </a:bodyPr>
          <a:lstStyle/>
          <a:p>
            <a:pPr algn="ctr"/>
            <a:r>
              <a:rPr sz="800" b="1" i="0">
                <a:solidFill>
                  <a:srgbClr val="FFFFFF"/>
                </a:solidFill>
              </a:rPr>
              <a:t>AI FEATURE</a:t>
            </a:r>
          </a:p>
        </p:txBody>
      </p:sp>
      <p:sp>
        <p:nvSpPr>
          <p:cNvPr id="5" name="TextBox 4"/>
          <p:cNvSpPr txBox="1"/>
          <p:nvPr/>
        </p:nvSpPr>
        <p:spPr>
          <a:xfrm>
            <a:off x="2578608" y="347472"/>
            <a:ext cx="3657600" cy="256032"/>
          </a:xfrm>
          <a:prstGeom prst="rect">
            <a:avLst/>
          </a:prstGeom>
          <a:noFill/>
        </p:spPr>
        <p:txBody>
          <a:bodyPr wrap="square">
            <a:spAutoFit/>
          </a:bodyPr>
          <a:lstStyle/>
          <a:p>
            <a:pPr algn="l"/>
            <a:r>
              <a:rPr sz="800" b="1" i="0">
                <a:solidFill>
                  <a:srgbClr val="CC0000"/>
                </a:solidFill>
              </a:rPr>
              <a:t>AI Feature 1 of 6</a:t>
            </a:r>
          </a:p>
        </p:txBody>
      </p:sp>
      <p:sp>
        <p:nvSpPr>
          <p:cNvPr id="6" name="TextBox 5"/>
          <p:cNvSpPr txBox="1"/>
          <p:nvPr/>
        </p:nvSpPr>
        <p:spPr>
          <a:xfrm>
            <a:off x="548640" y="621792"/>
            <a:ext cx="10972800" cy="1280160"/>
          </a:xfrm>
          <a:prstGeom prst="rect">
            <a:avLst/>
          </a:prstGeom>
          <a:noFill/>
        </p:spPr>
        <p:txBody>
          <a:bodyPr wrap="square">
            <a:spAutoFit/>
          </a:bodyPr>
          <a:lstStyle/>
          <a:p>
            <a:pPr algn="l"/>
            <a:r>
              <a:rPr sz="2800" b="1" i="0">
                <a:solidFill>
                  <a:srgbClr val="1A1A1A"/>
                </a:solidFill>
              </a:rPr>
              <a:t>Auto Commit Message</a:t>
            </a:r>
          </a:p>
        </p:txBody>
      </p:sp>
      <p:sp>
        <p:nvSpPr>
          <p:cNvPr id="7" name="Rectangle 6"/>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94960" cy="777240"/>
          </a:xfrm>
          <a:prstGeom prst="rect">
            <a:avLst/>
          </a:prstGeom>
          <a:noFill/>
        </p:spPr>
        <p:txBody>
          <a:bodyPr wrap="square">
            <a:spAutoFit/>
          </a:bodyPr>
          <a:lstStyle/>
          <a:p>
            <a:pPr algn="l"/>
            <a:r>
              <a:rPr sz="1200" b="0" i="0">
                <a:solidFill>
                  <a:srgbClr val="444444"/>
                </a:solidFill>
              </a:rPr>
              <a:t>When a user clicks Save Progress, the app reads the staged git diff and asks AI to produce one plain-language sentence -- no file paths, no git jargon.</a:t>
            </a:r>
          </a:p>
        </p:txBody>
      </p:sp>
      <p:sp>
        <p:nvSpPr>
          <p:cNvPr id="9" name="Rectangle 8"/>
          <p:cNvSpPr/>
          <p:nvPr/>
        </p:nvSpPr>
        <p:spPr>
          <a:xfrm>
            <a:off x="548640" y="2359152"/>
            <a:ext cx="54864" cy="6217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2359152"/>
            <a:ext cx="5340096" cy="621792"/>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32304"/>
            <a:ext cx="5138928" cy="502920"/>
          </a:xfrm>
          <a:prstGeom prst="rect">
            <a:avLst/>
          </a:prstGeom>
          <a:noFill/>
        </p:spPr>
        <p:txBody>
          <a:bodyPr wrap="square">
            <a:spAutoFit/>
          </a:bodyPr>
          <a:lstStyle/>
          <a:p>
            <a:pPr algn="l"/>
            <a:r>
              <a:rPr sz="1200" b="0" i="1">
                <a:solidFill>
                  <a:srgbClr val="552222"/>
                </a:solidFill>
              </a:rPr>
              <a:t>"Updated the homepage background color and fixed typos in the contact form."</a:t>
            </a:r>
          </a:p>
        </p:txBody>
      </p:sp>
      <p:sp>
        <p:nvSpPr>
          <p:cNvPr id="12" name="TextBox 11"/>
          <p:cNvSpPr txBox="1"/>
          <p:nvPr/>
        </p:nvSpPr>
        <p:spPr>
          <a:xfrm>
            <a:off x="548640" y="3154680"/>
            <a:ext cx="5394960" cy="777240"/>
          </a:xfrm>
          <a:prstGeom prst="rect">
            <a:avLst/>
          </a:prstGeom>
          <a:noFill/>
        </p:spPr>
        <p:txBody>
          <a:bodyPr wrap="square">
            <a:spAutoFit/>
          </a:bodyPr>
          <a:lstStyle/>
          <a:p>
            <a:pPr algn="l"/>
            <a:r>
              <a:rPr sz="1100" b="0" i="0">
                <a:solidFill>
                  <a:srgbClr val="888888"/>
                </a:solidFill>
              </a:rPr>
              <a:t>The generated message is pre-filled for review. The internal AI summary is stored to power Weekly Report and Natural Language Undo.</a:t>
            </a:r>
          </a:p>
        </p:txBody>
      </p:sp>
      <p:sp>
        <p:nvSpPr>
          <p:cNvPr id="13" name="Oval 12"/>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63040"/>
            <a:ext cx="5385816" cy="438912"/>
          </a:xfrm>
          <a:prstGeom prst="rect">
            <a:avLst/>
          </a:prstGeom>
          <a:noFill/>
        </p:spPr>
        <p:txBody>
          <a:bodyPr wrap="square">
            <a:spAutoFit/>
          </a:bodyPr>
          <a:lstStyle/>
          <a:p>
            <a:pPr algn="l"/>
            <a:r>
              <a:rPr sz="1200" b="0" i="0">
                <a:solidFill>
                  <a:srgbClr val="444444"/>
                </a:solidFill>
              </a:rPr>
              <a:t>Reads staged diff, file paths, and change types (new/modified/deleted)</a:t>
            </a:r>
          </a:p>
        </p:txBody>
      </p:sp>
      <p:sp>
        <p:nvSpPr>
          <p:cNvPr id="15" name="Oval 14"/>
          <p:cNvSpPr/>
          <p:nvPr/>
        </p:nvSpPr>
        <p:spPr>
          <a:xfrm>
            <a:off x="6400800" y="199339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1901952"/>
            <a:ext cx="5385816" cy="438912"/>
          </a:xfrm>
          <a:prstGeom prst="rect">
            <a:avLst/>
          </a:prstGeom>
          <a:noFill/>
        </p:spPr>
        <p:txBody>
          <a:bodyPr wrap="square">
            <a:spAutoFit/>
          </a:bodyPr>
          <a:lstStyle/>
          <a:p>
            <a:pPr algn="l"/>
            <a:r>
              <a:rPr sz="1200" b="0" i="0">
                <a:solidFill>
                  <a:srgbClr val="444444"/>
                </a:solidFill>
              </a:rPr>
              <a:t>3-5 second timeout -- saving is never blocked by AI</a:t>
            </a:r>
          </a:p>
        </p:txBody>
      </p:sp>
      <p:sp>
        <p:nvSpPr>
          <p:cNvPr id="17" name="Oval 16"/>
          <p:cNvSpPr/>
          <p:nvPr/>
        </p:nvSpPr>
        <p:spPr>
          <a:xfrm>
            <a:off x="6400800" y="243230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2340864"/>
            <a:ext cx="5385816" cy="438912"/>
          </a:xfrm>
          <a:prstGeom prst="rect">
            <a:avLst/>
          </a:prstGeom>
          <a:noFill/>
        </p:spPr>
        <p:txBody>
          <a:bodyPr wrap="square">
            <a:spAutoFit/>
          </a:bodyPr>
          <a:lstStyle/>
          <a:p>
            <a:pPr algn="l"/>
            <a:r>
              <a:rPr sz="1200" b="0" i="0">
                <a:solidFill>
                  <a:srgbClr val="444444"/>
                </a:solidFill>
              </a:rPr>
              <a:t>Per-project consent required before any diff is sent to AI</a:t>
            </a:r>
          </a:p>
        </p:txBody>
      </p:sp>
      <p:sp>
        <p:nvSpPr>
          <p:cNvPr id="19" name="Oval 18"/>
          <p:cNvSpPr/>
          <p:nvPr/>
        </p:nvSpPr>
        <p:spPr>
          <a:xfrm>
            <a:off x="6400800" y="287121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2824" y="2779776"/>
            <a:ext cx="5385816" cy="438912"/>
          </a:xfrm>
          <a:prstGeom prst="rect">
            <a:avLst/>
          </a:prstGeom>
          <a:noFill/>
        </p:spPr>
        <p:txBody>
          <a:bodyPr wrap="square">
            <a:spAutoFit/>
          </a:bodyPr>
          <a:lstStyle/>
          <a:p>
            <a:pPr algn="l"/>
            <a:r>
              <a:rPr sz="1200" b="0" i="0">
                <a:solidFill>
                  <a:srgbClr val="444444"/>
                </a:solidFill>
              </a:rPr>
              <a:t>Auto-Save mode: draft -&gt; confirm -&gt; commit in one flow</a:t>
            </a:r>
          </a:p>
        </p:txBody>
      </p:sp>
      <p:sp>
        <p:nvSpPr>
          <p:cNvPr id="21" name="Oval 20"/>
          <p:cNvSpPr/>
          <p:nvPr/>
        </p:nvSpPr>
        <p:spPr>
          <a:xfrm>
            <a:off x="6400800" y="331012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2824" y="3218688"/>
            <a:ext cx="5385816" cy="438912"/>
          </a:xfrm>
          <a:prstGeom prst="rect">
            <a:avLst/>
          </a:prstGeom>
          <a:noFill/>
        </p:spPr>
        <p:txBody>
          <a:bodyPr wrap="square">
            <a:spAutoFit/>
          </a:bodyPr>
          <a:lstStyle/>
          <a:p>
            <a:pPr algn="l"/>
            <a:r>
              <a:rPr sz="1200" b="0" i="0">
                <a:solidFill>
                  <a:srgbClr val="444444"/>
                </a:solidFill>
              </a:rPr>
              <a:t>Deterministic fallback message when AI is unavailable</a:t>
            </a:r>
          </a:p>
        </p:txBody>
      </p:sp>
      <p:sp>
        <p:nvSpPr>
          <p:cNvPr id="23" name="Oval 22"/>
          <p:cNvSpPr/>
          <p:nvPr/>
        </p:nvSpPr>
        <p:spPr>
          <a:xfrm>
            <a:off x="6400800" y="37490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3657600"/>
            <a:ext cx="5385816" cy="438912"/>
          </a:xfrm>
          <a:prstGeom prst="rect">
            <a:avLst/>
          </a:prstGeom>
          <a:noFill/>
        </p:spPr>
        <p:txBody>
          <a:bodyPr wrap="square">
            <a:spAutoFit/>
          </a:bodyPr>
          <a:lstStyle/>
          <a:p>
            <a:pPr algn="l"/>
            <a:r>
              <a:rPr sz="1200" b="0" i="0">
                <a:solidFill>
                  <a:srgbClr val="444444"/>
                </a:solidFill>
              </a:rPr>
              <a:t>Stored AI summary powers the other three AI features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92024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
            <a:ext cx="1737360" cy="228600"/>
          </a:xfrm>
          <a:prstGeom prst="rect">
            <a:avLst/>
          </a:prstGeom>
          <a:noFill/>
        </p:spPr>
        <p:txBody>
          <a:bodyPr wrap="square">
            <a:spAutoFit/>
          </a:bodyPr>
          <a:lstStyle/>
          <a:p>
            <a:pPr algn="ctr"/>
            <a:r>
              <a:rPr sz="800" b="1" i="0">
                <a:solidFill>
                  <a:srgbClr val="FFFFFF"/>
                </a:solidFill>
              </a:rPr>
              <a:t>AI FEATURE</a:t>
            </a:r>
          </a:p>
        </p:txBody>
      </p:sp>
      <p:sp>
        <p:nvSpPr>
          <p:cNvPr id="5" name="TextBox 4"/>
          <p:cNvSpPr txBox="1"/>
          <p:nvPr/>
        </p:nvSpPr>
        <p:spPr>
          <a:xfrm>
            <a:off x="2578608" y="347472"/>
            <a:ext cx="3657600" cy="256032"/>
          </a:xfrm>
          <a:prstGeom prst="rect">
            <a:avLst/>
          </a:prstGeom>
          <a:noFill/>
        </p:spPr>
        <p:txBody>
          <a:bodyPr wrap="square">
            <a:spAutoFit/>
          </a:bodyPr>
          <a:lstStyle/>
          <a:p>
            <a:pPr algn="l"/>
            <a:r>
              <a:rPr sz="800" b="1" i="0">
                <a:solidFill>
                  <a:srgbClr val="CC0000"/>
                </a:solidFill>
              </a:rPr>
              <a:t>AI Feature 2 of 6</a:t>
            </a:r>
          </a:p>
        </p:txBody>
      </p:sp>
      <p:sp>
        <p:nvSpPr>
          <p:cNvPr id="6" name="TextBox 5"/>
          <p:cNvSpPr txBox="1"/>
          <p:nvPr/>
        </p:nvSpPr>
        <p:spPr>
          <a:xfrm>
            <a:off x="548640" y="621792"/>
            <a:ext cx="10972800" cy="1280160"/>
          </a:xfrm>
          <a:prstGeom prst="rect">
            <a:avLst/>
          </a:prstGeom>
          <a:noFill/>
        </p:spPr>
        <p:txBody>
          <a:bodyPr wrap="square">
            <a:spAutoFit/>
          </a:bodyPr>
          <a:lstStyle/>
          <a:p>
            <a:pPr algn="l"/>
            <a:r>
              <a:rPr sz="2800" b="1" i="0">
                <a:solidFill>
                  <a:srgbClr val="1A1A1A"/>
                </a:solidFill>
              </a:rPr>
              <a:t>Weekly Report</a:t>
            </a:r>
          </a:p>
        </p:txBody>
      </p:sp>
      <p:sp>
        <p:nvSpPr>
          <p:cNvPr id="7" name="Rectangle 6"/>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94960" cy="777240"/>
          </a:xfrm>
          <a:prstGeom prst="rect">
            <a:avLst/>
          </a:prstGeom>
          <a:noFill/>
        </p:spPr>
        <p:txBody>
          <a:bodyPr wrap="square">
            <a:spAutoFit/>
          </a:bodyPr>
          <a:lstStyle/>
          <a:p>
            <a:pPr algn="l"/>
            <a:r>
              <a:rPr sz="1200" b="0" i="0">
                <a:solidFill>
                  <a:srgbClr val="444444"/>
                </a:solidFill>
              </a:rPr>
              <a:t>At the end of any selected week, the app compiles git stats and stored AI summaries from each save into a readable narrative of what was accomplished.</a:t>
            </a:r>
          </a:p>
        </p:txBody>
      </p:sp>
      <p:sp>
        <p:nvSpPr>
          <p:cNvPr id="9" name="Rectangle 8"/>
          <p:cNvSpPr/>
          <p:nvPr/>
        </p:nvSpPr>
        <p:spPr>
          <a:xfrm>
            <a:off x="548640" y="2377440"/>
            <a:ext cx="53949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77440"/>
            <a:ext cx="64008" cy="1234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468880"/>
            <a:ext cx="5166360" cy="301752"/>
          </a:xfrm>
          <a:prstGeom prst="rect">
            <a:avLst/>
          </a:prstGeom>
          <a:noFill/>
        </p:spPr>
        <p:txBody>
          <a:bodyPr wrap="square">
            <a:spAutoFit/>
          </a:bodyPr>
          <a:lstStyle/>
          <a:p>
            <a:pPr algn="l"/>
            <a:r>
              <a:rPr sz="1200" b="1" i="0">
                <a:solidFill>
                  <a:srgbClr val="1A1A1A"/>
                </a:solidFill>
              </a:rPr>
              <a:t>Example Output</a:t>
            </a:r>
          </a:p>
        </p:txBody>
      </p:sp>
      <p:sp>
        <p:nvSpPr>
          <p:cNvPr id="12" name="TextBox 11"/>
          <p:cNvSpPr txBox="1"/>
          <p:nvPr/>
        </p:nvSpPr>
        <p:spPr>
          <a:xfrm>
            <a:off x="704088" y="2761488"/>
            <a:ext cx="5166360" cy="777240"/>
          </a:xfrm>
          <a:prstGeom prst="rect">
            <a:avLst/>
          </a:prstGeom>
          <a:noFill/>
        </p:spPr>
        <p:txBody>
          <a:bodyPr wrap="square">
            <a:spAutoFit/>
          </a:bodyPr>
          <a:lstStyle/>
          <a:p>
            <a:pPr algn="l"/>
            <a:r>
              <a:rPr sz="1200" b="0" i="0">
                <a:solidFill>
                  <a:srgbClr val="444444"/>
                </a:solidFill>
              </a:rPr>
              <a:t>"This week you redesigned the portfolio homepage, fixed spacing issues on mobile, and added a new contact form. 14 saves across 3 active days -- 847 lines added, 312 removed."</a:t>
            </a:r>
          </a:p>
        </p:txBody>
      </p:sp>
      <p:sp>
        <p:nvSpPr>
          <p:cNvPr id="13" name="TextBox 12"/>
          <p:cNvSpPr txBox="1"/>
          <p:nvPr/>
        </p:nvSpPr>
        <p:spPr>
          <a:xfrm>
            <a:off x="548640" y="3749039"/>
            <a:ext cx="5394960" cy="548640"/>
          </a:xfrm>
          <a:prstGeom prst="rect">
            <a:avLst/>
          </a:prstGeom>
          <a:noFill/>
        </p:spPr>
        <p:txBody>
          <a:bodyPr wrap="square">
            <a:spAutoFit/>
          </a:bodyPr>
          <a:lstStyle/>
          <a:p>
            <a:pPr algn="l"/>
            <a:r>
              <a:rPr sz="1100" b="0" i="0">
                <a:solidFill>
                  <a:srgbClr val="888888"/>
                </a:solidFill>
              </a:rPr>
              <a:t>Useful for status updates, client logs, or personal portfolios -- no git knowledge needed.</a:t>
            </a:r>
          </a:p>
        </p:txBody>
      </p:sp>
      <p:sp>
        <p:nvSpPr>
          <p:cNvPr id="14" name="Oval 13"/>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2824" y="1463040"/>
            <a:ext cx="5385816" cy="475488"/>
          </a:xfrm>
          <a:prstGeom prst="rect">
            <a:avLst/>
          </a:prstGeom>
          <a:noFill/>
        </p:spPr>
        <p:txBody>
          <a:bodyPr wrap="square">
            <a:spAutoFit/>
          </a:bodyPr>
          <a:lstStyle/>
          <a:p>
            <a:pPr algn="l"/>
            <a:r>
              <a:rPr sz="1200" b="0" i="0">
                <a:solidFill>
                  <a:srgbClr val="444444"/>
                </a:solidFill>
              </a:rPr>
              <a:t>Combines git stats with stored AI commit summaries for the week</a:t>
            </a:r>
          </a:p>
        </p:txBody>
      </p:sp>
      <p:sp>
        <p:nvSpPr>
          <p:cNvPr id="16" name="Oval 15"/>
          <p:cNvSpPr/>
          <p:nvPr/>
        </p:nvSpPr>
        <p:spPr>
          <a:xfrm>
            <a:off x="6400800" y="202996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1938528"/>
            <a:ext cx="5385816" cy="475488"/>
          </a:xfrm>
          <a:prstGeom prst="rect">
            <a:avLst/>
          </a:prstGeom>
          <a:noFill/>
        </p:spPr>
        <p:txBody>
          <a:bodyPr wrap="square">
            <a:spAutoFit/>
          </a:bodyPr>
          <a:lstStyle/>
          <a:p>
            <a:pPr algn="l"/>
            <a:r>
              <a:rPr sz="1200" b="0" i="0">
                <a:solidFill>
                  <a:srgbClr val="444444"/>
                </a:solidFill>
              </a:rPr>
              <a:t>Shows total saves, files changed, lines added/removed, active days</a:t>
            </a:r>
          </a:p>
        </p:txBody>
      </p:sp>
      <p:sp>
        <p:nvSpPr>
          <p:cNvPr id="18" name="Oval 17"/>
          <p:cNvSpPr/>
          <p:nvPr/>
        </p:nvSpPr>
        <p:spPr>
          <a:xfrm>
            <a:off x="6400800" y="250545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2824" y="2414016"/>
            <a:ext cx="5385816" cy="475488"/>
          </a:xfrm>
          <a:prstGeom prst="rect">
            <a:avLst/>
          </a:prstGeom>
          <a:noFill/>
        </p:spPr>
        <p:txBody>
          <a:bodyPr wrap="square">
            <a:spAutoFit/>
          </a:bodyPr>
          <a:lstStyle/>
          <a:p>
            <a:pPr algn="l"/>
            <a:r>
              <a:rPr sz="1200" b="0" i="0">
                <a:solidFill>
                  <a:srgbClr val="444444"/>
                </a:solidFill>
              </a:rPr>
              <a:t>Cached by commit signature to avoid re-processing the same week</a:t>
            </a:r>
          </a:p>
        </p:txBody>
      </p:sp>
      <p:sp>
        <p:nvSpPr>
          <p:cNvPr id="20" name="Oval 19"/>
          <p:cNvSpPr/>
          <p:nvPr/>
        </p:nvSpPr>
        <p:spPr>
          <a:xfrm>
            <a:off x="6400800" y="298094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2889504"/>
            <a:ext cx="5385816" cy="475488"/>
          </a:xfrm>
          <a:prstGeom prst="rect">
            <a:avLst/>
          </a:prstGeom>
          <a:noFill/>
        </p:spPr>
        <p:txBody>
          <a:bodyPr wrap="square">
            <a:spAutoFit/>
          </a:bodyPr>
          <a:lstStyle/>
          <a:p>
            <a:pPr algn="l"/>
            <a:r>
              <a:rPr sz="1200" b="0" i="0">
                <a:solidFill>
                  <a:srgbClr val="444444"/>
                </a:solidFill>
              </a:rPr>
              <a:t>Stats-only fallback (no AI narrative) when AI is not connected</a:t>
            </a:r>
          </a:p>
        </p:txBody>
      </p:sp>
      <p:sp>
        <p:nvSpPr>
          <p:cNvPr id="22" name="Oval 21"/>
          <p:cNvSpPr/>
          <p:nvPr/>
        </p:nvSpPr>
        <p:spPr>
          <a:xfrm>
            <a:off x="6400800" y="345643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364992"/>
            <a:ext cx="5385816" cy="475488"/>
          </a:xfrm>
          <a:prstGeom prst="rect">
            <a:avLst/>
          </a:prstGeom>
          <a:noFill/>
        </p:spPr>
        <p:txBody>
          <a:bodyPr wrap="square">
            <a:spAutoFit/>
          </a:bodyPr>
          <a:lstStyle/>
          <a:p>
            <a:pPr algn="l"/>
            <a:r>
              <a:rPr sz="1200" b="0" i="0">
                <a:solidFill>
                  <a:srgbClr val="444444"/>
                </a:solidFill>
              </a:rPr>
              <a:t>Distinguishes AI-summarized commits from message-only entries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92024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
            <a:ext cx="1737360" cy="228600"/>
          </a:xfrm>
          <a:prstGeom prst="rect">
            <a:avLst/>
          </a:prstGeom>
          <a:noFill/>
        </p:spPr>
        <p:txBody>
          <a:bodyPr wrap="square">
            <a:spAutoFit/>
          </a:bodyPr>
          <a:lstStyle/>
          <a:p>
            <a:pPr algn="ctr"/>
            <a:r>
              <a:rPr sz="800" b="1" i="0">
                <a:solidFill>
                  <a:srgbClr val="FFFFFF"/>
                </a:solidFill>
              </a:rPr>
              <a:t>AI FEATURE</a:t>
            </a:r>
          </a:p>
        </p:txBody>
      </p:sp>
      <p:sp>
        <p:nvSpPr>
          <p:cNvPr id="5" name="TextBox 4"/>
          <p:cNvSpPr txBox="1"/>
          <p:nvPr/>
        </p:nvSpPr>
        <p:spPr>
          <a:xfrm>
            <a:off x="2578608" y="347472"/>
            <a:ext cx="3657600" cy="256032"/>
          </a:xfrm>
          <a:prstGeom prst="rect">
            <a:avLst/>
          </a:prstGeom>
          <a:noFill/>
        </p:spPr>
        <p:txBody>
          <a:bodyPr wrap="square">
            <a:spAutoFit/>
          </a:bodyPr>
          <a:lstStyle/>
          <a:p>
            <a:pPr algn="l"/>
            <a:r>
              <a:rPr sz="800" b="1" i="0">
                <a:solidFill>
                  <a:srgbClr val="CC0000"/>
                </a:solidFill>
              </a:rPr>
              <a:t>AI Feature 3 of 6</a:t>
            </a:r>
          </a:p>
        </p:txBody>
      </p:sp>
      <p:sp>
        <p:nvSpPr>
          <p:cNvPr id="6" name="TextBox 5"/>
          <p:cNvSpPr txBox="1"/>
          <p:nvPr/>
        </p:nvSpPr>
        <p:spPr>
          <a:xfrm>
            <a:off x="548640" y="621792"/>
            <a:ext cx="10972800" cy="1280160"/>
          </a:xfrm>
          <a:prstGeom prst="rect">
            <a:avLst/>
          </a:prstGeom>
          <a:noFill/>
        </p:spPr>
        <p:txBody>
          <a:bodyPr wrap="square">
            <a:spAutoFit/>
          </a:bodyPr>
          <a:lstStyle/>
          <a:p>
            <a:pPr algn="l"/>
            <a:r>
              <a:rPr sz="2800" b="1" i="0">
                <a:solidFill>
                  <a:srgbClr val="1A1A1A"/>
                </a:solidFill>
              </a:rPr>
              <a:t>Natural Language Undo</a:t>
            </a:r>
          </a:p>
        </p:txBody>
      </p:sp>
      <p:sp>
        <p:nvSpPr>
          <p:cNvPr id="7" name="Rectangle 6"/>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94960" cy="594360"/>
          </a:xfrm>
          <a:prstGeom prst="rect">
            <a:avLst/>
          </a:prstGeom>
          <a:noFill/>
        </p:spPr>
        <p:txBody>
          <a:bodyPr wrap="square">
            <a:spAutoFit/>
          </a:bodyPr>
          <a:lstStyle/>
          <a:p>
            <a:pPr algn="l"/>
            <a:r>
              <a:rPr sz="1200" b="0" i="0">
                <a:solidFill>
                  <a:srgbClr val="444444"/>
                </a:solidFill>
              </a:rPr>
              <a:t>Instead of scrolling through commit hashes, users describe in plain language when they want to return to.</a:t>
            </a:r>
          </a:p>
        </p:txBody>
      </p:sp>
      <p:sp>
        <p:nvSpPr>
          <p:cNvPr id="9" name="Rectangle 8"/>
          <p:cNvSpPr/>
          <p:nvPr/>
        </p:nvSpPr>
        <p:spPr>
          <a:xfrm>
            <a:off x="548640" y="2176272"/>
            <a:ext cx="54864" cy="6217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2176272"/>
            <a:ext cx="5340096" cy="621792"/>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49424"/>
            <a:ext cx="5138928" cy="502920"/>
          </a:xfrm>
          <a:prstGeom prst="rect">
            <a:avLst/>
          </a:prstGeom>
          <a:noFill/>
        </p:spPr>
        <p:txBody>
          <a:bodyPr wrap="square">
            <a:spAutoFit/>
          </a:bodyPr>
          <a:lstStyle/>
          <a:p>
            <a:pPr algn="l"/>
            <a:r>
              <a:rPr sz="1200" b="0" i="1">
                <a:solidFill>
                  <a:srgbClr val="552222"/>
                </a:solidFill>
              </a:rPr>
              <a:t>"Go back to before I changed the upload flow."</a:t>
            </a:r>
          </a:p>
        </p:txBody>
      </p:sp>
      <p:sp>
        <p:nvSpPr>
          <p:cNvPr id="12" name="Rectangle 11"/>
          <p:cNvSpPr/>
          <p:nvPr/>
        </p:nvSpPr>
        <p:spPr>
          <a:xfrm>
            <a:off x="548640" y="2926080"/>
            <a:ext cx="54864" cy="6217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 y="2926080"/>
            <a:ext cx="5340096" cy="621792"/>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999232"/>
            <a:ext cx="5138928" cy="502920"/>
          </a:xfrm>
          <a:prstGeom prst="rect">
            <a:avLst/>
          </a:prstGeom>
          <a:noFill/>
        </p:spPr>
        <p:txBody>
          <a:bodyPr wrap="square">
            <a:spAutoFit/>
          </a:bodyPr>
          <a:lstStyle/>
          <a:p>
            <a:pPr algn="l"/>
            <a:r>
              <a:rPr sz="1200" b="0" i="1">
                <a:solidFill>
                  <a:srgbClr val="552222"/>
                </a:solidFill>
              </a:rPr>
              <a:t>"Restore to the state two days ago when the button was still red."</a:t>
            </a:r>
          </a:p>
        </p:txBody>
      </p:sp>
      <p:sp>
        <p:nvSpPr>
          <p:cNvPr id="15" name="TextBox 14"/>
          <p:cNvSpPr txBox="1"/>
          <p:nvPr/>
        </p:nvSpPr>
        <p:spPr>
          <a:xfrm>
            <a:off x="548640" y="3703320"/>
            <a:ext cx="5394960" cy="685800"/>
          </a:xfrm>
          <a:prstGeom prst="rect">
            <a:avLst/>
          </a:prstGeom>
          <a:noFill/>
        </p:spPr>
        <p:txBody>
          <a:bodyPr wrap="square">
            <a:spAutoFit/>
          </a:bodyPr>
          <a:lstStyle/>
          <a:p>
            <a:pPr algn="l"/>
            <a:r>
              <a:rPr sz="1100" b="0" i="0">
                <a:solidFill>
                  <a:srgbClr val="888888"/>
                </a:solidFill>
              </a:rPr>
              <a:t>AI searches recent commits enriched with their AI summaries, shows a file-level preview, then waits for explicit confirmation before doing anything.</a:t>
            </a:r>
          </a:p>
        </p:txBody>
      </p:sp>
      <p:sp>
        <p:nvSpPr>
          <p:cNvPr id="16" name="Oval 15"/>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1463040"/>
            <a:ext cx="5385816" cy="475488"/>
          </a:xfrm>
          <a:prstGeom prst="rect">
            <a:avLst/>
          </a:prstGeom>
          <a:noFill/>
        </p:spPr>
        <p:txBody>
          <a:bodyPr wrap="square">
            <a:spAutoFit/>
          </a:bodyPr>
          <a:lstStyle/>
          <a:p>
            <a:pPr algn="l"/>
            <a:r>
              <a:rPr sz="1200" b="0" i="0">
                <a:solidFill>
                  <a:srgbClr val="444444"/>
                </a:solidFill>
              </a:rPr>
              <a:t>Searches up to 120 recent commits enriched with AI summaries</a:t>
            </a:r>
          </a:p>
        </p:txBody>
      </p:sp>
      <p:sp>
        <p:nvSpPr>
          <p:cNvPr id="18" name="Oval 17"/>
          <p:cNvSpPr/>
          <p:nvPr/>
        </p:nvSpPr>
        <p:spPr>
          <a:xfrm>
            <a:off x="6400800" y="202996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2824" y="1938528"/>
            <a:ext cx="5385816" cy="475488"/>
          </a:xfrm>
          <a:prstGeom prst="rect">
            <a:avLst/>
          </a:prstGeom>
          <a:noFill/>
        </p:spPr>
        <p:txBody>
          <a:bodyPr wrap="square">
            <a:spAutoFit/>
          </a:bodyPr>
          <a:lstStyle/>
          <a:p>
            <a:pPr algn="l"/>
            <a:r>
              <a:rPr sz="1200" b="0" i="0">
                <a:solidFill>
                  <a:srgbClr val="444444"/>
                </a:solidFill>
              </a:rPr>
              <a:t>Returns a primary match + 0-2 alternatives with confidence scores</a:t>
            </a:r>
          </a:p>
        </p:txBody>
      </p:sp>
      <p:sp>
        <p:nvSpPr>
          <p:cNvPr id="20" name="Oval 19"/>
          <p:cNvSpPr/>
          <p:nvPr/>
        </p:nvSpPr>
        <p:spPr>
          <a:xfrm>
            <a:off x="6400800" y="250545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2414016"/>
            <a:ext cx="5385816" cy="475488"/>
          </a:xfrm>
          <a:prstGeom prst="rect">
            <a:avLst/>
          </a:prstGeom>
          <a:noFill/>
        </p:spPr>
        <p:txBody>
          <a:bodyPr wrap="square">
            <a:spAutoFit/>
          </a:bodyPr>
          <a:lstStyle/>
          <a:p>
            <a:pPr algn="l"/>
            <a:r>
              <a:rPr sz="1200" b="0" i="0">
                <a:solidFill>
                  <a:srgbClr val="444444"/>
                </a:solidFill>
              </a:rPr>
              <a:t>Shows which files would be restored and removed -- before applying</a:t>
            </a:r>
          </a:p>
        </p:txBody>
      </p:sp>
      <p:sp>
        <p:nvSpPr>
          <p:cNvPr id="22" name="Oval 21"/>
          <p:cNvSpPr/>
          <p:nvPr/>
        </p:nvSpPr>
        <p:spPr>
          <a:xfrm>
            <a:off x="6400800" y="298094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2889504"/>
            <a:ext cx="5385816" cy="475488"/>
          </a:xfrm>
          <a:prstGeom prst="rect">
            <a:avLst/>
          </a:prstGeom>
          <a:noFill/>
        </p:spPr>
        <p:txBody>
          <a:bodyPr wrap="square">
            <a:spAutoFit/>
          </a:bodyPr>
          <a:lstStyle/>
          <a:p>
            <a:pPr algn="l"/>
            <a:r>
              <a:rPr sz="1200" b="0" i="0">
                <a:solidFill>
                  <a:srgbClr val="444444"/>
                </a:solidFill>
              </a:rPr>
              <a:t>User must explicitly confirm -- nothing applied automatically</a:t>
            </a:r>
          </a:p>
        </p:txBody>
      </p:sp>
      <p:sp>
        <p:nvSpPr>
          <p:cNvPr id="24" name="Oval 23"/>
          <p:cNvSpPr/>
          <p:nvPr/>
        </p:nvSpPr>
        <p:spPr>
          <a:xfrm>
            <a:off x="6400800" y="345643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3364992"/>
            <a:ext cx="5385816" cy="475488"/>
          </a:xfrm>
          <a:prstGeom prst="rect">
            <a:avLst/>
          </a:prstGeom>
          <a:noFill/>
        </p:spPr>
        <p:txBody>
          <a:bodyPr wrap="square">
            <a:spAutoFit/>
          </a:bodyPr>
          <a:lstStyle/>
          <a:p>
            <a:pPr algn="l"/>
            <a:r>
              <a:rPr sz="1200" b="0" i="0">
                <a:solidFill>
                  <a:srgbClr val="444444"/>
                </a:solidFill>
              </a:rPr>
              <a:t>Fallback options when matched commit has no file-level delta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92024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
            <a:ext cx="1737360" cy="228600"/>
          </a:xfrm>
          <a:prstGeom prst="rect">
            <a:avLst/>
          </a:prstGeom>
          <a:noFill/>
        </p:spPr>
        <p:txBody>
          <a:bodyPr wrap="square">
            <a:spAutoFit/>
          </a:bodyPr>
          <a:lstStyle/>
          <a:p>
            <a:pPr algn="ctr"/>
            <a:r>
              <a:rPr sz="800" b="1" i="0">
                <a:solidFill>
                  <a:srgbClr val="FFFFFF"/>
                </a:solidFill>
              </a:rPr>
              <a:t>AI FEATURE</a:t>
            </a:r>
          </a:p>
        </p:txBody>
      </p:sp>
      <p:sp>
        <p:nvSpPr>
          <p:cNvPr id="5" name="TextBox 4"/>
          <p:cNvSpPr txBox="1"/>
          <p:nvPr/>
        </p:nvSpPr>
        <p:spPr>
          <a:xfrm>
            <a:off x="2578608" y="347472"/>
            <a:ext cx="3657600" cy="256032"/>
          </a:xfrm>
          <a:prstGeom prst="rect">
            <a:avLst/>
          </a:prstGeom>
          <a:noFill/>
        </p:spPr>
        <p:txBody>
          <a:bodyPr wrap="square">
            <a:spAutoFit/>
          </a:bodyPr>
          <a:lstStyle/>
          <a:p>
            <a:pPr algn="l"/>
            <a:r>
              <a:rPr sz="800" b="1" i="0">
                <a:solidFill>
                  <a:srgbClr val="CC0000"/>
                </a:solidFill>
              </a:rPr>
              <a:t>AI Feature 4 of 6</a:t>
            </a:r>
          </a:p>
        </p:txBody>
      </p:sp>
      <p:sp>
        <p:nvSpPr>
          <p:cNvPr id="6" name="TextBox 5"/>
          <p:cNvSpPr txBox="1"/>
          <p:nvPr/>
        </p:nvSpPr>
        <p:spPr>
          <a:xfrm>
            <a:off x="548640" y="621792"/>
            <a:ext cx="10972800" cy="1280160"/>
          </a:xfrm>
          <a:prstGeom prst="rect">
            <a:avLst/>
          </a:prstGeom>
          <a:noFill/>
        </p:spPr>
        <p:txBody>
          <a:bodyPr wrap="square">
            <a:spAutoFit/>
          </a:bodyPr>
          <a:lstStyle/>
          <a:p>
            <a:pPr algn="l"/>
            <a:r>
              <a:rPr sz="2800" b="1" i="0">
                <a:solidFill>
                  <a:srgbClr val="1A1A1A"/>
                </a:solidFill>
              </a:rPr>
              <a:t>Smart Conflict Resolver</a:t>
            </a:r>
          </a:p>
        </p:txBody>
      </p:sp>
      <p:sp>
        <p:nvSpPr>
          <p:cNvPr id="7" name="Rectangle 6"/>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94960" cy="822960"/>
          </a:xfrm>
          <a:prstGeom prst="rect">
            <a:avLst/>
          </a:prstGeom>
          <a:noFill/>
        </p:spPr>
        <p:txBody>
          <a:bodyPr wrap="square">
            <a:spAutoFit/>
          </a:bodyPr>
          <a:lstStyle/>
          <a:p>
            <a:pPr algn="l"/>
            <a:r>
              <a:rPr sz="1200" b="0" i="0">
                <a:solidFill>
                  <a:srgbClr val="444444"/>
                </a:solidFill>
              </a:rPr>
              <a:t>When a pull or merge creates git conflicts, the app automatically surfaces a guided dialog -- no raw conflict markers exposed. Optional AI explains which version to keep and why.</a:t>
            </a:r>
          </a:p>
        </p:txBody>
      </p:sp>
      <p:sp>
        <p:nvSpPr>
          <p:cNvPr id="9" name="Rectangle 8"/>
          <p:cNvSpPr/>
          <p:nvPr/>
        </p:nvSpPr>
        <p:spPr>
          <a:xfrm>
            <a:off x="548640" y="2423160"/>
            <a:ext cx="539496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423160"/>
            <a:ext cx="64008" cy="1234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514600"/>
            <a:ext cx="5166360" cy="301752"/>
          </a:xfrm>
          <a:prstGeom prst="rect">
            <a:avLst/>
          </a:prstGeom>
          <a:noFill/>
        </p:spPr>
        <p:txBody>
          <a:bodyPr wrap="square">
            <a:spAutoFit/>
          </a:bodyPr>
          <a:lstStyle/>
          <a:p>
            <a:pPr algn="l"/>
            <a:r>
              <a:rPr sz="1200" b="1" i="0">
                <a:solidFill>
                  <a:srgbClr val="1A1A1A"/>
                </a:solidFill>
              </a:rPr>
              <a:t>AI Hint Example</a:t>
            </a:r>
          </a:p>
        </p:txBody>
      </p:sp>
      <p:sp>
        <p:nvSpPr>
          <p:cNvPr id="12" name="TextBox 11"/>
          <p:cNvSpPr txBox="1"/>
          <p:nvPr/>
        </p:nvSpPr>
        <p:spPr>
          <a:xfrm>
            <a:off x="704088" y="2807208"/>
            <a:ext cx="5166360" cy="777240"/>
          </a:xfrm>
          <a:prstGeom prst="rect">
            <a:avLst/>
          </a:prstGeom>
          <a:noFill/>
        </p:spPr>
        <p:txBody>
          <a:bodyPr wrap="square">
            <a:spAutoFit/>
          </a:bodyPr>
          <a:lstStyle/>
          <a:p>
            <a:pPr algn="l"/>
            <a:r>
              <a:rPr sz="1200" b="0" i="0">
                <a:solidFill>
                  <a:srgbClr val="444444"/>
                </a:solidFill>
              </a:rPr>
              <a:t>"Keep your version -- it has the new layout changes. The incoming version only adds a minor color fix that's already in yours."</a:t>
            </a:r>
          </a:p>
        </p:txBody>
      </p:sp>
      <p:sp>
        <p:nvSpPr>
          <p:cNvPr id="13" name="Oval 12"/>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2824" y="1463040"/>
            <a:ext cx="5385816" cy="438912"/>
          </a:xfrm>
          <a:prstGeom prst="rect">
            <a:avLst/>
          </a:prstGeom>
          <a:noFill/>
        </p:spPr>
        <p:txBody>
          <a:bodyPr wrap="square">
            <a:spAutoFit/>
          </a:bodyPr>
          <a:lstStyle/>
          <a:p>
            <a:pPr algn="l"/>
            <a:r>
              <a:rPr sz="1200" b="0" i="0">
                <a:solidFill>
                  <a:srgbClr val="444444"/>
                </a:solidFill>
              </a:rPr>
              <a:t>Dialog auto-opens when conflicts are detected after pull/merge</a:t>
            </a:r>
          </a:p>
        </p:txBody>
      </p:sp>
      <p:sp>
        <p:nvSpPr>
          <p:cNvPr id="15" name="Oval 14"/>
          <p:cNvSpPr/>
          <p:nvPr/>
        </p:nvSpPr>
        <p:spPr>
          <a:xfrm>
            <a:off x="6400800" y="199339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1901952"/>
            <a:ext cx="5385816" cy="438912"/>
          </a:xfrm>
          <a:prstGeom prst="rect">
            <a:avLst/>
          </a:prstGeom>
          <a:noFill/>
        </p:spPr>
        <p:txBody>
          <a:bodyPr wrap="square">
            <a:spAutoFit/>
          </a:bodyPr>
          <a:lstStyle/>
          <a:p>
            <a:pPr algn="l"/>
            <a:r>
              <a:rPr sz="1200" b="0" i="0">
                <a:solidFill>
                  <a:srgbClr val="444444"/>
                </a:solidFill>
              </a:rPr>
              <a:t>"Keep Mine" / "Keep Theirs" per file -- no diff syntax required</a:t>
            </a:r>
          </a:p>
        </p:txBody>
      </p:sp>
      <p:sp>
        <p:nvSpPr>
          <p:cNvPr id="17" name="Oval 16"/>
          <p:cNvSpPr/>
          <p:nvPr/>
        </p:nvSpPr>
        <p:spPr>
          <a:xfrm>
            <a:off x="6400800" y="243230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2824" y="2340864"/>
            <a:ext cx="5385816" cy="438912"/>
          </a:xfrm>
          <a:prstGeom prst="rect">
            <a:avLst/>
          </a:prstGeom>
          <a:noFill/>
        </p:spPr>
        <p:txBody>
          <a:bodyPr wrap="square">
            <a:spAutoFit/>
          </a:bodyPr>
          <a:lstStyle/>
          <a:p>
            <a:pPr algn="l"/>
            <a:r>
              <a:rPr sz="1200" b="0" i="0">
                <a:solidFill>
                  <a:srgbClr val="444444"/>
                </a:solidFill>
              </a:rPr>
              <a:t>AI explains the tradeoff for each conflicted file on request</a:t>
            </a:r>
          </a:p>
        </p:txBody>
      </p:sp>
      <p:sp>
        <p:nvSpPr>
          <p:cNvPr id="19" name="Oval 18"/>
          <p:cNvSpPr/>
          <p:nvPr/>
        </p:nvSpPr>
        <p:spPr>
          <a:xfrm>
            <a:off x="6400800" y="287121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2824" y="2779776"/>
            <a:ext cx="5385816" cy="438912"/>
          </a:xfrm>
          <a:prstGeom prst="rect">
            <a:avLst/>
          </a:prstGeom>
          <a:noFill/>
        </p:spPr>
        <p:txBody>
          <a:bodyPr wrap="square">
            <a:spAutoFit/>
          </a:bodyPr>
          <a:lstStyle/>
          <a:p>
            <a:pPr algn="l"/>
            <a:r>
              <a:rPr sz="1200" b="0" i="0">
                <a:solidFill>
                  <a:srgbClr val="444444"/>
                </a:solidFill>
              </a:rPr>
              <a:t>Once resolved, AI can suggest the merge commit message</a:t>
            </a:r>
          </a:p>
        </p:txBody>
      </p:sp>
      <p:sp>
        <p:nvSpPr>
          <p:cNvPr id="21" name="Oval 20"/>
          <p:cNvSpPr/>
          <p:nvPr/>
        </p:nvSpPr>
        <p:spPr>
          <a:xfrm>
            <a:off x="6400800" y="331012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2824" y="3218688"/>
            <a:ext cx="5385816" cy="438912"/>
          </a:xfrm>
          <a:prstGeom prst="rect">
            <a:avLst/>
          </a:prstGeom>
          <a:noFill/>
        </p:spPr>
        <p:txBody>
          <a:bodyPr wrap="square">
            <a:spAutoFit/>
          </a:bodyPr>
          <a:lstStyle/>
          <a:p>
            <a:pPr algn="l"/>
            <a:r>
              <a:rPr sz="1200" b="0" i="0">
                <a:solidFill>
                  <a:srgbClr val="444444"/>
                </a:solidFill>
              </a:rPr>
              <a:t>Visual progress: resolved files show a checkmark badge</a:t>
            </a:r>
          </a:p>
        </p:txBody>
      </p:sp>
      <p:sp>
        <p:nvSpPr>
          <p:cNvPr id="23" name="Oval 22"/>
          <p:cNvSpPr/>
          <p:nvPr/>
        </p:nvSpPr>
        <p:spPr>
          <a:xfrm>
            <a:off x="6400800" y="37490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2824" y="3657600"/>
            <a:ext cx="5385816" cy="438912"/>
          </a:xfrm>
          <a:prstGeom prst="rect">
            <a:avLst/>
          </a:prstGeom>
          <a:noFill/>
        </p:spPr>
        <p:txBody>
          <a:bodyPr wrap="square">
            <a:spAutoFit/>
          </a:bodyPr>
          <a:lstStyle/>
          <a:p>
            <a:pPr algn="l"/>
            <a:r>
              <a:rPr sz="1200" b="0" i="0">
                <a:solidFill>
                  <a:srgbClr val="444444"/>
                </a:solidFill>
              </a:rPr>
              <a:t>Abort button always visible to cancel the entire merge safely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92024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
            <a:ext cx="1737360" cy="228600"/>
          </a:xfrm>
          <a:prstGeom prst="rect">
            <a:avLst/>
          </a:prstGeom>
          <a:noFill/>
        </p:spPr>
        <p:txBody>
          <a:bodyPr wrap="square">
            <a:spAutoFit/>
          </a:bodyPr>
          <a:lstStyle/>
          <a:p>
            <a:pPr algn="ctr"/>
            <a:r>
              <a:rPr sz="800" b="1" i="0">
                <a:solidFill>
                  <a:srgbClr val="FFFFFF"/>
                </a:solidFill>
              </a:rPr>
              <a:t>AI FEATURE</a:t>
            </a:r>
          </a:p>
        </p:txBody>
      </p:sp>
      <p:sp>
        <p:nvSpPr>
          <p:cNvPr id="5" name="TextBox 4"/>
          <p:cNvSpPr txBox="1"/>
          <p:nvPr/>
        </p:nvSpPr>
        <p:spPr>
          <a:xfrm>
            <a:off x="2578608" y="347472"/>
            <a:ext cx="3657600" cy="256032"/>
          </a:xfrm>
          <a:prstGeom prst="rect">
            <a:avLst/>
          </a:prstGeom>
          <a:noFill/>
        </p:spPr>
        <p:txBody>
          <a:bodyPr wrap="square">
            <a:spAutoFit/>
          </a:bodyPr>
          <a:lstStyle/>
          <a:p>
            <a:pPr algn="l"/>
            <a:r>
              <a:rPr sz="800" b="1" i="0">
                <a:solidFill>
                  <a:srgbClr val="CC0000"/>
                </a:solidFill>
              </a:rPr>
              <a:t>AI Feature 5 of 6</a:t>
            </a:r>
          </a:p>
        </p:txBody>
      </p:sp>
      <p:sp>
        <p:nvSpPr>
          <p:cNvPr id="6" name="TextBox 5"/>
          <p:cNvSpPr txBox="1"/>
          <p:nvPr/>
        </p:nvSpPr>
        <p:spPr>
          <a:xfrm>
            <a:off x="548640" y="621792"/>
            <a:ext cx="10972800" cy="1280160"/>
          </a:xfrm>
          <a:prstGeom prst="rect">
            <a:avLst/>
          </a:prstGeom>
          <a:noFill/>
        </p:spPr>
        <p:txBody>
          <a:bodyPr wrap="square">
            <a:spAutoFit/>
          </a:bodyPr>
          <a:lstStyle/>
          <a:p>
            <a:pPr algn="l"/>
            <a:r>
              <a:rPr sz="2800" b="1" i="0">
                <a:solidFill>
                  <a:srgbClr val="1A1A1A"/>
                </a:solidFill>
              </a:rPr>
              <a:t>File Insight</a:t>
            </a:r>
          </a:p>
        </p:txBody>
      </p:sp>
      <p:sp>
        <p:nvSpPr>
          <p:cNvPr id="7" name="Rectangle 6"/>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94960" cy="685800"/>
          </a:xfrm>
          <a:prstGeom prst="rect">
            <a:avLst/>
          </a:prstGeom>
          <a:noFill/>
        </p:spPr>
        <p:txBody>
          <a:bodyPr wrap="square">
            <a:spAutoFit/>
          </a:bodyPr>
          <a:lstStyle/>
          <a:p>
            <a:pPr algn="l"/>
            <a:r>
              <a:rPr sz="1200" b="0" i="0">
                <a:solidFill>
                  <a:srgbClr val="444444"/>
                </a:solidFill>
              </a:rPr>
              <a:t>Click any tracked file in the file panel and the app instantly generates a plain-language explanation of what that file does, how it works, and which related files connect to it.</a:t>
            </a:r>
          </a:p>
        </p:txBody>
      </p:sp>
      <p:sp>
        <p:nvSpPr>
          <p:cNvPr id="9" name="Rectangle 8"/>
          <p:cNvSpPr/>
          <p:nvPr/>
        </p:nvSpPr>
        <p:spPr>
          <a:xfrm>
            <a:off x="548640" y="2267712"/>
            <a:ext cx="539496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67712"/>
            <a:ext cx="64008"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359152"/>
            <a:ext cx="5166360" cy="301752"/>
          </a:xfrm>
          <a:prstGeom prst="rect">
            <a:avLst/>
          </a:prstGeom>
          <a:noFill/>
        </p:spPr>
        <p:txBody>
          <a:bodyPr wrap="square">
            <a:spAutoFit/>
          </a:bodyPr>
          <a:lstStyle/>
          <a:p>
            <a:pPr algn="l"/>
            <a:r>
              <a:rPr sz="1200" b="1" i="0">
                <a:solidFill>
                  <a:srgbClr val="1A1A1A"/>
                </a:solidFill>
              </a:rPr>
              <a:t>Example Output</a:t>
            </a:r>
          </a:p>
        </p:txBody>
      </p:sp>
      <p:sp>
        <p:nvSpPr>
          <p:cNvPr id="12" name="TextBox 11"/>
          <p:cNvSpPr txBox="1"/>
          <p:nvPr/>
        </p:nvSpPr>
        <p:spPr>
          <a:xfrm>
            <a:off x="704088" y="2651760"/>
            <a:ext cx="5166360" cy="914400"/>
          </a:xfrm>
          <a:prstGeom prst="rect">
            <a:avLst/>
          </a:prstGeom>
          <a:noFill/>
        </p:spPr>
        <p:txBody>
          <a:bodyPr wrap="square">
            <a:spAutoFit/>
          </a:bodyPr>
          <a:lstStyle/>
          <a:p>
            <a:pPr algn="l"/>
            <a:r>
              <a:rPr sz="1100" b="0" i="0">
                <a:solidFill>
                  <a:srgbClr val="444444"/>
                </a:solidFill>
              </a:rPr>
              <a:t>"This is the main entry point of the React UI. It initializes the app, loads your saved preferences, and wires together the sidebar, file panel, and action panel. It coordinates the commit flow from file selection through to the save confirmation."</a:t>
            </a:r>
          </a:p>
        </p:txBody>
      </p:sp>
      <p:sp>
        <p:nvSpPr>
          <p:cNvPr id="13" name="TextBox 12"/>
          <p:cNvSpPr txBox="1"/>
          <p:nvPr/>
        </p:nvSpPr>
        <p:spPr>
          <a:xfrm>
            <a:off x="548640" y="3767328"/>
            <a:ext cx="5394960" cy="548640"/>
          </a:xfrm>
          <a:prstGeom prst="rect">
            <a:avLst/>
          </a:prstGeom>
          <a:noFill/>
        </p:spPr>
        <p:txBody>
          <a:bodyPr wrap="square">
            <a:spAutoFit/>
          </a:bodyPr>
          <a:lstStyle/>
          <a:p>
            <a:pPr algn="l"/>
            <a:r>
              <a:rPr sz="1100" b="0" i="0">
                <a:solidFill>
                  <a:srgbClr val="888888"/>
                </a:solidFill>
              </a:rPr>
              <a:t>Explains any code file in plain language -- no terminal or code knowledge required.</a:t>
            </a:r>
          </a:p>
        </p:txBody>
      </p:sp>
      <p:sp>
        <p:nvSpPr>
          <p:cNvPr id="14" name="Oval 13"/>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2824" y="1463040"/>
            <a:ext cx="5385816" cy="438912"/>
          </a:xfrm>
          <a:prstGeom prst="rect">
            <a:avLst/>
          </a:prstGeom>
          <a:noFill/>
        </p:spPr>
        <p:txBody>
          <a:bodyPr wrap="square">
            <a:spAutoFit/>
          </a:bodyPr>
          <a:lstStyle/>
          <a:p>
            <a:pPr algn="l"/>
            <a:r>
              <a:rPr sz="1200" b="0" i="0">
                <a:solidFill>
                  <a:srgbClr val="444444"/>
                </a:solidFill>
              </a:rPr>
              <a:t>Scores related files via co-commit history, directory proximity, and name similarity -- no hallucinated paths</a:t>
            </a:r>
          </a:p>
        </p:txBody>
      </p:sp>
      <p:sp>
        <p:nvSpPr>
          <p:cNvPr id="16" name="Oval 15"/>
          <p:cNvSpPr/>
          <p:nvPr/>
        </p:nvSpPr>
        <p:spPr>
          <a:xfrm>
            <a:off x="6400800" y="199339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1901952"/>
            <a:ext cx="5385816" cy="438912"/>
          </a:xfrm>
          <a:prstGeom prst="rect">
            <a:avLst/>
          </a:prstGeom>
          <a:noFill/>
        </p:spPr>
        <p:txBody>
          <a:bodyPr wrap="square">
            <a:spAutoFit/>
          </a:bodyPr>
          <a:lstStyle/>
          <a:p>
            <a:pPr algn="l"/>
            <a:r>
              <a:rPr sz="1200" b="0" i="0">
                <a:solidFill>
                  <a:srgbClr val="444444"/>
                </a:solidFill>
              </a:rPr>
              <a:t>64 KB read limit; 12 KB content snippet sent to AI</a:t>
            </a:r>
          </a:p>
        </p:txBody>
      </p:sp>
      <p:sp>
        <p:nvSpPr>
          <p:cNvPr id="18" name="Oval 17"/>
          <p:cNvSpPr/>
          <p:nvPr/>
        </p:nvSpPr>
        <p:spPr>
          <a:xfrm>
            <a:off x="6400800" y="243230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2824" y="2340864"/>
            <a:ext cx="5385816" cy="438912"/>
          </a:xfrm>
          <a:prstGeom prst="rect">
            <a:avLst/>
          </a:prstGeom>
          <a:noFill/>
        </p:spPr>
        <p:txBody>
          <a:bodyPr wrap="square">
            <a:spAutoFit/>
          </a:bodyPr>
          <a:lstStyle/>
          <a:p>
            <a:pPr algn="l"/>
            <a:r>
              <a:rPr sz="1200" b="0" i="0">
                <a:solidFill>
                  <a:srgbClr val="444444"/>
                </a:solidFill>
              </a:rPr>
              <a:t>Binary files auto-detected by extension and null-byte scan and skipped</a:t>
            </a:r>
          </a:p>
        </p:txBody>
      </p:sp>
      <p:sp>
        <p:nvSpPr>
          <p:cNvPr id="20" name="Oval 19"/>
          <p:cNvSpPr/>
          <p:nvPr/>
        </p:nvSpPr>
        <p:spPr>
          <a:xfrm>
            <a:off x="6400800" y="287121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2779776"/>
            <a:ext cx="5385816" cy="438912"/>
          </a:xfrm>
          <a:prstGeom prst="rect">
            <a:avLst/>
          </a:prstGeom>
          <a:noFill/>
        </p:spPr>
        <p:txBody>
          <a:bodyPr wrap="square">
            <a:spAutoFit/>
          </a:bodyPr>
          <a:lstStyle/>
          <a:p>
            <a:pPr algn="l"/>
            <a:r>
              <a:rPr sz="1200" b="0" i="0">
                <a:solidFill>
                  <a:srgbClr val="444444"/>
                </a:solidFill>
              </a:rPr>
              <a:t>Related file chips are clickable -- analyze connected files in sequence</a:t>
            </a:r>
          </a:p>
        </p:txBody>
      </p:sp>
      <p:sp>
        <p:nvSpPr>
          <p:cNvPr id="22" name="Oval 21"/>
          <p:cNvSpPr/>
          <p:nvPr/>
        </p:nvSpPr>
        <p:spPr>
          <a:xfrm>
            <a:off x="6400800" y="331012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218688"/>
            <a:ext cx="5385816" cy="438912"/>
          </a:xfrm>
          <a:prstGeom prst="rect">
            <a:avLst/>
          </a:prstGeom>
          <a:noFill/>
        </p:spPr>
        <p:txBody>
          <a:bodyPr wrap="square">
            <a:spAutoFit/>
          </a:bodyPr>
          <a:lstStyle/>
          <a:p>
            <a:pPr algn="l"/>
            <a:r>
              <a:rPr sz="1200" b="0" i="0">
                <a:solidFill>
                  <a:srgbClr val="444444"/>
                </a:solidFill>
              </a:rPr>
              <a:t>Requires AI connection; gracefully disabled when offline</a:t>
            </a:r>
          </a:p>
        </p:txBody>
      </p:sp>
      <p:sp>
        <p:nvSpPr>
          <p:cNvPr id="24" name="Oval 23"/>
          <p:cNvSpPr/>
          <p:nvPr/>
        </p:nvSpPr>
        <p:spPr>
          <a:xfrm>
            <a:off x="6400800" y="37490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3657600"/>
            <a:ext cx="5385816" cy="438912"/>
          </a:xfrm>
          <a:prstGeom prst="rect">
            <a:avLst/>
          </a:prstGeom>
          <a:noFill/>
        </p:spPr>
        <p:txBody>
          <a:bodyPr wrap="square">
            <a:spAutoFit/>
          </a:bodyPr>
          <a:lstStyle/>
          <a:p>
            <a:pPr algn="l"/>
            <a:r>
              <a:rPr sz="1200" b="0" i="0">
                <a:solidFill>
                  <a:srgbClr val="444444"/>
                </a:solidFill>
              </a:rPr>
              <a:t>Request deduplication prevents stale results on rapid file switching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192024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56616"/>
            <a:ext cx="1737360" cy="228600"/>
          </a:xfrm>
          <a:prstGeom prst="rect">
            <a:avLst/>
          </a:prstGeom>
          <a:noFill/>
        </p:spPr>
        <p:txBody>
          <a:bodyPr wrap="square">
            <a:spAutoFit/>
          </a:bodyPr>
          <a:lstStyle/>
          <a:p>
            <a:pPr algn="ctr"/>
            <a:r>
              <a:rPr sz="800" b="1" i="0">
                <a:solidFill>
                  <a:srgbClr val="FFFFFF"/>
                </a:solidFill>
              </a:rPr>
              <a:t>AI FEATURE</a:t>
            </a:r>
          </a:p>
        </p:txBody>
      </p:sp>
      <p:sp>
        <p:nvSpPr>
          <p:cNvPr id="5" name="TextBox 4"/>
          <p:cNvSpPr txBox="1"/>
          <p:nvPr/>
        </p:nvSpPr>
        <p:spPr>
          <a:xfrm>
            <a:off x="2578608" y="347472"/>
            <a:ext cx="3657600" cy="256032"/>
          </a:xfrm>
          <a:prstGeom prst="rect">
            <a:avLst/>
          </a:prstGeom>
          <a:noFill/>
        </p:spPr>
        <p:txBody>
          <a:bodyPr wrap="square">
            <a:spAutoFit/>
          </a:bodyPr>
          <a:lstStyle/>
          <a:p>
            <a:pPr algn="l"/>
            <a:r>
              <a:rPr sz="800" b="1" i="0">
                <a:solidFill>
                  <a:srgbClr val="CC0000"/>
                </a:solidFill>
              </a:rPr>
              <a:t>AI Feature 6 of 6</a:t>
            </a:r>
          </a:p>
        </p:txBody>
      </p:sp>
      <p:sp>
        <p:nvSpPr>
          <p:cNvPr id="6" name="TextBox 5"/>
          <p:cNvSpPr txBox="1"/>
          <p:nvPr/>
        </p:nvSpPr>
        <p:spPr>
          <a:xfrm>
            <a:off x="548640" y="621792"/>
            <a:ext cx="10972800" cy="1280160"/>
          </a:xfrm>
          <a:prstGeom prst="rect">
            <a:avLst/>
          </a:prstGeom>
          <a:noFill/>
        </p:spPr>
        <p:txBody>
          <a:bodyPr wrap="square">
            <a:spAutoFit/>
          </a:bodyPr>
          <a:lstStyle/>
          <a:p>
            <a:pPr algn="l"/>
            <a:r>
              <a:rPr sz="2800" b="1" i="0">
                <a:solidFill>
                  <a:srgbClr val="1A1A1A"/>
                </a:solidFill>
              </a:rPr>
              <a:t>Untracked File Review</a:t>
            </a:r>
          </a:p>
        </p:txBody>
      </p:sp>
      <p:sp>
        <p:nvSpPr>
          <p:cNvPr id="7" name="Rectangle 6"/>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5394960" cy="685800"/>
          </a:xfrm>
          <a:prstGeom prst="rect">
            <a:avLst/>
          </a:prstGeom>
          <a:noFill/>
        </p:spPr>
        <p:txBody>
          <a:bodyPr wrap="square">
            <a:spAutoFit/>
          </a:bodyPr>
          <a:lstStyle/>
          <a:p>
            <a:pPr algn="l"/>
            <a:r>
              <a:rPr sz="1200" b="0" i="0">
                <a:solidFill>
                  <a:srgbClr val="444444"/>
                </a:solidFill>
              </a:rPr>
              <a:t>When untracked files exist and AI is connected, a 'Review untracked' button appears. The app classifies every untracked file: commit it to the repo, or delete it?</a:t>
            </a:r>
          </a:p>
        </p:txBody>
      </p:sp>
      <p:sp>
        <p:nvSpPr>
          <p:cNvPr id="9" name="Rectangle 8"/>
          <p:cNvSpPr/>
          <p:nvPr/>
        </p:nvSpPr>
        <p:spPr>
          <a:xfrm>
            <a:off x="548640" y="2267712"/>
            <a:ext cx="539496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67712"/>
            <a:ext cx="64008"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359152"/>
            <a:ext cx="5166360" cy="301752"/>
          </a:xfrm>
          <a:prstGeom prst="rect">
            <a:avLst/>
          </a:prstGeom>
          <a:noFill/>
        </p:spPr>
        <p:txBody>
          <a:bodyPr wrap="square">
            <a:spAutoFit/>
          </a:bodyPr>
          <a:lstStyle/>
          <a:p>
            <a:pPr algn="l"/>
            <a:r>
              <a:rPr sz="1200" b="1" i="0">
                <a:solidFill>
                  <a:srgbClr val="1A1A1A"/>
                </a:solidFill>
              </a:rPr>
              <a:t>Example Recommendations</a:t>
            </a:r>
          </a:p>
        </p:txBody>
      </p:sp>
      <p:sp>
        <p:nvSpPr>
          <p:cNvPr id="12" name="TextBox 11"/>
          <p:cNvSpPr txBox="1"/>
          <p:nvPr/>
        </p:nvSpPr>
        <p:spPr>
          <a:xfrm>
            <a:off x="704088" y="2651760"/>
            <a:ext cx="5166360" cy="914400"/>
          </a:xfrm>
          <a:prstGeom prst="rect">
            <a:avLst/>
          </a:prstGeom>
          <a:noFill/>
        </p:spPr>
        <p:txBody>
          <a:bodyPr wrap="square">
            <a:spAutoFit/>
          </a:bodyPr>
          <a:lstStyle/>
          <a:p>
            <a:pPr algn="l"/>
            <a:r>
              <a:rPr sz="1100" b="0" i="0">
                <a:solidFill>
                  <a:srgbClr val="444444"/>
                </a:solidFill>
              </a:rPr>
              <a:t>Commit: src/Button.tsx (94%) -- 'Looks like new source code, likely belongs in version control.'
Delete: node_modules/ (99%) -- 'Generated dependency folder, should never be committed to the repo.'</a:t>
            </a:r>
          </a:p>
        </p:txBody>
      </p:sp>
      <p:sp>
        <p:nvSpPr>
          <p:cNvPr id="13" name="TextBox 12"/>
          <p:cNvSpPr txBox="1"/>
          <p:nvPr/>
        </p:nvSpPr>
        <p:spPr>
          <a:xfrm>
            <a:off x="548640" y="3767328"/>
            <a:ext cx="5394960" cy="548640"/>
          </a:xfrm>
          <a:prstGeom prst="rect">
            <a:avLst/>
          </a:prstGeom>
          <a:noFill/>
        </p:spPr>
        <p:txBody>
          <a:bodyPr wrap="square">
            <a:spAutoFit/>
          </a:bodyPr>
          <a:lstStyle/>
          <a:p>
            <a:pPr algn="l"/>
            <a:r>
              <a:rPr sz="1100" b="0" i="0">
                <a:solidFill>
                  <a:srgbClr val="888888"/>
                </a:solidFill>
              </a:rPr>
              <a:t>Stage all commit-recommended files in one click, or select delete-recommended files for instant removal.</a:t>
            </a:r>
          </a:p>
        </p:txBody>
      </p:sp>
      <p:sp>
        <p:nvSpPr>
          <p:cNvPr id="14" name="Oval 13"/>
          <p:cNvSpPr/>
          <p:nvPr/>
        </p:nvSpPr>
        <p:spPr>
          <a:xfrm>
            <a:off x="6400800" y="155448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2824" y="1463040"/>
            <a:ext cx="5385816" cy="438912"/>
          </a:xfrm>
          <a:prstGeom prst="rect">
            <a:avLst/>
          </a:prstGeom>
          <a:noFill/>
        </p:spPr>
        <p:txBody>
          <a:bodyPr wrap="square">
            <a:spAutoFit/>
          </a:bodyPr>
          <a:lstStyle/>
          <a:p>
            <a:pPr algn="l"/>
            <a:r>
              <a:rPr sz="1200" b="0" i="0">
                <a:solidFill>
                  <a:srgbClr val="444444"/>
                </a:solidFill>
              </a:rPr>
              <a:t>Two-tier decision: instant rule-based pass first, AI only for ambiguous cases -- fast and low token cost</a:t>
            </a:r>
          </a:p>
        </p:txBody>
      </p:sp>
      <p:sp>
        <p:nvSpPr>
          <p:cNvPr id="16" name="Oval 15"/>
          <p:cNvSpPr/>
          <p:nvPr/>
        </p:nvSpPr>
        <p:spPr>
          <a:xfrm>
            <a:off x="6400800" y="1993392"/>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1901952"/>
            <a:ext cx="5385816" cy="438912"/>
          </a:xfrm>
          <a:prstGeom prst="rect">
            <a:avLst/>
          </a:prstGeom>
          <a:noFill/>
        </p:spPr>
        <p:txBody>
          <a:bodyPr wrap="square">
            <a:spAutoFit/>
          </a:bodyPr>
          <a:lstStyle/>
          <a:p>
            <a:pPr algn="l"/>
            <a:r>
              <a:rPr sz="1200" b="0" i="0">
                <a:solidFill>
                  <a:srgbClr val="444444"/>
                </a:solidFill>
              </a:rPr>
              <a:t>Rules auto-identify: build artifacts, caches, virtual envs, .env secrets, lock files, and source directories</a:t>
            </a:r>
          </a:p>
        </p:txBody>
      </p:sp>
      <p:sp>
        <p:nvSpPr>
          <p:cNvPr id="18" name="Oval 17"/>
          <p:cNvSpPr/>
          <p:nvPr/>
        </p:nvSpPr>
        <p:spPr>
          <a:xfrm>
            <a:off x="6400800" y="2432304"/>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2824" y="2340864"/>
            <a:ext cx="5385816" cy="438912"/>
          </a:xfrm>
          <a:prstGeom prst="rect">
            <a:avLst/>
          </a:prstGeom>
          <a:noFill/>
        </p:spPr>
        <p:txBody>
          <a:bodyPr wrap="square">
            <a:spAutoFit/>
          </a:bodyPr>
          <a:lstStyle/>
          <a:p>
            <a:pPr algn="l"/>
            <a:r>
              <a:rPr sz="1200" b="0" i="0">
                <a:solidFill>
                  <a:srgbClr val="444444"/>
                </a:solidFill>
              </a:rPr>
              <a:t>AI context: up to 100 files; up to 16 receive content snippets</a:t>
            </a:r>
          </a:p>
        </p:txBody>
      </p:sp>
      <p:sp>
        <p:nvSpPr>
          <p:cNvPr id="20" name="Oval 19"/>
          <p:cNvSpPr/>
          <p:nvPr/>
        </p:nvSpPr>
        <p:spPr>
          <a:xfrm>
            <a:off x="6400800" y="2871216"/>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2779776"/>
            <a:ext cx="5385816" cy="438912"/>
          </a:xfrm>
          <a:prstGeom prst="rect">
            <a:avLst/>
          </a:prstGeom>
          <a:noFill/>
        </p:spPr>
        <p:txBody>
          <a:bodyPr wrap="square">
            <a:spAutoFit/>
          </a:bodyPr>
          <a:lstStyle/>
          <a:p>
            <a:pPr algn="l"/>
            <a:r>
              <a:rPr sz="1200" b="0" i="0">
                <a:solidFill>
                  <a:srgbClr val="444444"/>
                </a:solidFill>
              </a:rPr>
              <a:t>Adaptive timeout: 12s base + 220ms per file, capped at 45s</a:t>
            </a:r>
          </a:p>
        </p:txBody>
      </p:sp>
      <p:sp>
        <p:nvSpPr>
          <p:cNvPr id="22" name="Oval 21"/>
          <p:cNvSpPr/>
          <p:nvPr/>
        </p:nvSpPr>
        <p:spPr>
          <a:xfrm>
            <a:off x="6400800" y="3310128"/>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218688"/>
            <a:ext cx="5385816" cy="438912"/>
          </a:xfrm>
          <a:prstGeom prst="rect">
            <a:avLst/>
          </a:prstGeom>
          <a:noFill/>
        </p:spPr>
        <p:txBody>
          <a:bodyPr wrap="square">
            <a:spAutoFit/>
          </a:bodyPr>
          <a:lstStyle/>
          <a:p>
            <a:pPr algn="l"/>
            <a:r>
              <a:rPr sz="1200" b="0" i="0">
                <a:solidFill>
                  <a:srgbClr val="444444"/>
                </a:solidFill>
              </a:rPr>
              <a:t>Conservative fallback on timeout: unresolved files default to 'commit'</a:t>
            </a:r>
          </a:p>
        </p:txBody>
      </p:sp>
      <p:sp>
        <p:nvSpPr>
          <p:cNvPr id="24" name="Oval 23"/>
          <p:cNvSpPr/>
          <p:nvPr/>
        </p:nvSpPr>
        <p:spPr>
          <a:xfrm>
            <a:off x="6400800" y="3749040"/>
            <a:ext cx="100584" cy="100584"/>
          </a:xfrm>
          <a:prstGeom prst="ellips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2824" y="3657600"/>
            <a:ext cx="5385816" cy="438912"/>
          </a:xfrm>
          <a:prstGeom prst="rect">
            <a:avLst/>
          </a:prstGeom>
          <a:noFill/>
        </p:spPr>
        <p:txBody>
          <a:bodyPr wrap="square">
            <a:spAutoFit/>
          </a:bodyPr>
          <a:lstStyle/>
          <a:p>
            <a:pPr algn="l"/>
            <a:r>
              <a:rPr sz="1200" b="0" i="0">
                <a:solidFill>
                  <a:srgbClr val="444444"/>
                </a:solidFill>
              </a:rPr>
              <a:t>Live UI updates as deletions complete; failed paths reported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9144000" cy="274320"/>
          </a:xfrm>
          <a:prstGeom prst="rect">
            <a:avLst/>
          </a:prstGeom>
          <a:noFill/>
        </p:spPr>
        <p:txBody>
          <a:bodyPr wrap="square">
            <a:spAutoFit/>
          </a:bodyPr>
          <a:lstStyle/>
          <a:p>
            <a:pPr algn="l"/>
            <a:r>
              <a:rPr sz="800" b="1" i="0">
                <a:solidFill>
                  <a:srgbClr val="888888"/>
                </a:solidFill>
              </a:rPr>
              <a:t>GIT ABSTRACTION TOOL -- AI SUMMARY</a:t>
            </a:r>
          </a:p>
        </p:txBody>
      </p:sp>
      <p:sp>
        <p:nvSpPr>
          <p:cNvPr id="4" name="TextBox 3"/>
          <p:cNvSpPr txBox="1"/>
          <p:nvPr/>
        </p:nvSpPr>
        <p:spPr>
          <a:xfrm>
            <a:off x="548640" y="566928"/>
            <a:ext cx="10972800" cy="1280160"/>
          </a:xfrm>
          <a:prstGeom prst="rect">
            <a:avLst/>
          </a:prstGeom>
          <a:noFill/>
        </p:spPr>
        <p:txBody>
          <a:bodyPr wrap="square">
            <a:spAutoFit/>
          </a:bodyPr>
          <a:lstStyle/>
          <a:p>
            <a:pPr algn="l"/>
            <a:r>
              <a:rPr sz="2800" b="1" i="0">
                <a:solidFill>
                  <a:srgbClr val="1A1A1A"/>
                </a:solidFill>
              </a:rPr>
              <a:t>6 Core AI Components at a Glance</a:t>
            </a:r>
          </a:p>
        </p:txBody>
      </p:sp>
      <p:sp>
        <p:nvSpPr>
          <p:cNvPr id="5" name="Rectangle 4"/>
          <p:cNvSpPr/>
          <p:nvPr/>
        </p:nvSpPr>
        <p:spPr>
          <a:xfrm>
            <a:off x="548640" y="1325880"/>
            <a:ext cx="11064240" cy="254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394960" cy="150876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53949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600200"/>
            <a:ext cx="1097280" cy="237744"/>
          </a:xfrm>
          <a:prstGeom prst="rect">
            <a:avLst/>
          </a:prstGeom>
          <a:noFill/>
        </p:spPr>
        <p:txBody>
          <a:bodyPr wrap="square">
            <a:spAutoFit/>
          </a:bodyPr>
          <a:lstStyle/>
          <a:p>
            <a:pPr algn="l"/>
            <a:r>
              <a:rPr sz="800" b="1" i="0">
                <a:solidFill>
                  <a:srgbClr val="CC0000"/>
                </a:solidFill>
              </a:rPr>
              <a:t>FEATURE 1</a:t>
            </a:r>
          </a:p>
        </p:txBody>
      </p:sp>
      <p:sp>
        <p:nvSpPr>
          <p:cNvPr id="9" name="TextBox 8"/>
          <p:cNvSpPr txBox="1"/>
          <p:nvPr/>
        </p:nvSpPr>
        <p:spPr>
          <a:xfrm>
            <a:off x="713232" y="1810512"/>
            <a:ext cx="5065776" cy="320040"/>
          </a:xfrm>
          <a:prstGeom prst="rect">
            <a:avLst/>
          </a:prstGeom>
          <a:noFill/>
        </p:spPr>
        <p:txBody>
          <a:bodyPr wrap="square">
            <a:spAutoFit/>
          </a:bodyPr>
          <a:lstStyle/>
          <a:p>
            <a:pPr algn="l"/>
            <a:r>
              <a:rPr sz="1300" b="1" i="0">
                <a:solidFill>
                  <a:srgbClr val="1A1A1A"/>
                </a:solidFill>
              </a:rPr>
              <a:t>Auto Commit Message</a:t>
            </a:r>
          </a:p>
        </p:txBody>
      </p:sp>
      <p:sp>
        <p:nvSpPr>
          <p:cNvPr id="10" name="TextBox 9"/>
          <p:cNvSpPr txBox="1"/>
          <p:nvPr/>
        </p:nvSpPr>
        <p:spPr>
          <a:xfrm>
            <a:off x="713232" y="2148840"/>
            <a:ext cx="5065776" cy="713232"/>
          </a:xfrm>
          <a:prstGeom prst="rect">
            <a:avLst/>
          </a:prstGeom>
          <a:noFill/>
        </p:spPr>
        <p:txBody>
          <a:bodyPr wrap="square">
            <a:spAutoFit/>
          </a:bodyPr>
          <a:lstStyle/>
          <a:p>
            <a:pPr algn="l"/>
            <a:r>
              <a:rPr sz="1000" b="0" i="0">
                <a:solidFill>
                  <a:srgbClr val="444444"/>
                </a:solidFill>
              </a:rPr>
              <a:t>Turns staged diffs into a plain-language save description. Never blocks saving. Stored summaries power the other features.</a:t>
            </a:r>
          </a:p>
        </p:txBody>
      </p:sp>
      <p:sp>
        <p:nvSpPr>
          <p:cNvPr id="11" name="Rectangle 10"/>
          <p:cNvSpPr/>
          <p:nvPr/>
        </p:nvSpPr>
        <p:spPr>
          <a:xfrm>
            <a:off x="6336792" y="1463040"/>
            <a:ext cx="5394960" cy="150876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36792" y="1463040"/>
            <a:ext cx="53949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1384" y="1600200"/>
            <a:ext cx="1097280" cy="237744"/>
          </a:xfrm>
          <a:prstGeom prst="rect">
            <a:avLst/>
          </a:prstGeom>
          <a:noFill/>
        </p:spPr>
        <p:txBody>
          <a:bodyPr wrap="square">
            <a:spAutoFit/>
          </a:bodyPr>
          <a:lstStyle/>
          <a:p>
            <a:pPr algn="l"/>
            <a:r>
              <a:rPr sz="800" b="1" i="0">
                <a:solidFill>
                  <a:srgbClr val="CC0000"/>
                </a:solidFill>
              </a:rPr>
              <a:t>FEATURE 2</a:t>
            </a:r>
          </a:p>
        </p:txBody>
      </p:sp>
      <p:sp>
        <p:nvSpPr>
          <p:cNvPr id="14" name="TextBox 13"/>
          <p:cNvSpPr txBox="1"/>
          <p:nvPr/>
        </p:nvSpPr>
        <p:spPr>
          <a:xfrm>
            <a:off x="6501384" y="1810512"/>
            <a:ext cx="5065776" cy="320040"/>
          </a:xfrm>
          <a:prstGeom prst="rect">
            <a:avLst/>
          </a:prstGeom>
          <a:noFill/>
        </p:spPr>
        <p:txBody>
          <a:bodyPr wrap="square">
            <a:spAutoFit/>
          </a:bodyPr>
          <a:lstStyle/>
          <a:p>
            <a:pPr algn="l"/>
            <a:r>
              <a:rPr sz="1300" b="1" i="0">
                <a:solidFill>
                  <a:srgbClr val="1A1A1A"/>
                </a:solidFill>
              </a:rPr>
              <a:t>Weekly Report</a:t>
            </a:r>
          </a:p>
        </p:txBody>
      </p:sp>
      <p:sp>
        <p:nvSpPr>
          <p:cNvPr id="15" name="TextBox 14"/>
          <p:cNvSpPr txBox="1"/>
          <p:nvPr/>
        </p:nvSpPr>
        <p:spPr>
          <a:xfrm>
            <a:off x="6501384" y="2148840"/>
            <a:ext cx="5065776" cy="713232"/>
          </a:xfrm>
          <a:prstGeom prst="rect">
            <a:avLst/>
          </a:prstGeom>
          <a:noFill/>
        </p:spPr>
        <p:txBody>
          <a:bodyPr wrap="square">
            <a:spAutoFit/>
          </a:bodyPr>
          <a:lstStyle/>
          <a:p>
            <a:pPr algn="l"/>
            <a:r>
              <a:rPr sz="1000" b="0" i="0">
                <a:solidFill>
                  <a:srgbClr val="444444"/>
                </a:solidFill>
              </a:rPr>
              <a:t>Generates a narrative of the week's work -- what was built, how many saves, across how many days. Stats-only fallback without AI.</a:t>
            </a:r>
          </a:p>
        </p:txBody>
      </p:sp>
      <p:sp>
        <p:nvSpPr>
          <p:cNvPr id="16" name="Rectangle 15"/>
          <p:cNvSpPr/>
          <p:nvPr/>
        </p:nvSpPr>
        <p:spPr>
          <a:xfrm>
            <a:off x="548640" y="3154680"/>
            <a:ext cx="5394960" cy="150876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154680"/>
            <a:ext cx="53949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291840"/>
            <a:ext cx="1097280" cy="237744"/>
          </a:xfrm>
          <a:prstGeom prst="rect">
            <a:avLst/>
          </a:prstGeom>
          <a:noFill/>
        </p:spPr>
        <p:txBody>
          <a:bodyPr wrap="square">
            <a:spAutoFit/>
          </a:bodyPr>
          <a:lstStyle/>
          <a:p>
            <a:pPr algn="l"/>
            <a:r>
              <a:rPr sz="800" b="1" i="0">
                <a:solidFill>
                  <a:srgbClr val="CC0000"/>
                </a:solidFill>
              </a:rPr>
              <a:t>FEATURE 3</a:t>
            </a:r>
          </a:p>
        </p:txBody>
      </p:sp>
      <p:sp>
        <p:nvSpPr>
          <p:cNvPr id="19" name="TextBox 18"/>
          <p:cNvSpPr txBox="1"/>
          <p:nvPr/>
        </p:nvSpPr>
        <p:spPr>
          <a:xfrm>
            <a:off x="713232" y="3502152"/>
            <a:ext cx="5065776" cy="320040"/>
          </a:xfrm>
          <a:prstGeom prst="rect">
            <a:avLst/>
          </a:prstGeom>
          <a:noFill/>
        </p:spPr>
        <p:txBody>
          <a:bodyPr wrap="square">
            <a:spAutoFit/>
          </a:bodyPr>
          <a:lstStyle/>
          <a:p>
            <a:pPr algn="l"/>
            <a:r>
              <a:rPr sz="1300" b="1" i="0">
                <a:solidFill>
                  <a:srgbClr val="1A1A1A"/>
                </a:solidFill>
              </a:rPr>
              <a:t>Natural Language Undo</a:t>
            </a:r>
          </a:p>
        </p:txBody>
      </p:sp>
      <p:sp>
        <p:nvSpPr>
          <p:cNvPr id="20" name="TextBox 19"/>
          <p:cNvSpPr txBox="1"/>
          <p:nvPr/>
        </p:nvSpPr>
        <p:spPr>
          <a:xfrm>
            <a:off x="713232" y="3840480"/>
            <a:ext cx="5065776" cy="713232"/>
          </a:xfrm>
          <a:prstGeom prst="rect">
            <a:avLst/>
          </a:prstGeom>
          <a:noFill/>
        </p:spPr>
        <p:txBody>
          <a:bodyPr wrap="square">
            <a:spAutoFit/>
          </a:bodyPr>
          <a:lstStyle/>
          <a:p>
            <a:pPr algn="l"/>
            <a:r>
              <a:rPr sz="1000" b="0" i="0">
                <a:solidFill>
                  <a:srgbClr val="444444"/>
                </a:solidFill>
              </a:rPr>
              <a:t>Describe when to return to in plain English. AI finds the commit, previews the file changes, and waits for your confirmation.</a:t>
            </a:r>
          </a:p>
        </p:txBody>
      </p:sp>
      <p:sp>
        <p:nvSpPr>
          <p:cNvPr id="21" name="Rectangle 20"/>
          <p:cNvSpPr/>
          <p:nvPr/>
        </p:nvSpPr>
        <p:spPr>
          <a:xfrm>
            <a:off x="6336792" y="3154680"/>
            <a:ext cx="5394960" cy="150876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36792" y="3154680"/>
            <a:ext cx="53949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4" y="3291840"/>
            <a:ext cx="1097280" cy="237744"/>
          </a:xfrm>
          <a:prstGeom prst="rect">
            <a:avLst/>
          </a:prstGeom>
          <a:noFill/>
        </p:spPr>
        <p:txBody>
          <a:bodyPr wrap="square">
            <a:spAutoFit/>
          </a:bodyPr>
          <a:lstStyle/>
          <a:p>
            <a:pPr algn="l"/>
            <a:r>
              <a:rPr sz="800" b="1" i="0">
                <a:solidFill>
                  <a:srgbClr val="CC0000"/>
                </a:solidFill>
              </a:rPr>
              <a:t>FEATURE 4</a:t>
            </a:r>
          </a:p>
        </p:txBody>
      </p:sp>
      <p:sp>
        <p:nvSpPr>
          <p:cNvPr id="24" name="TextBox 23"/>
          <p:cNvSpPr txBox="1"/>
          <p:nvPr/>
        </p:nvSpPr>
        <p:spPr>
          <a:xfrm>
            <a:off x="6501384" y="3502152"/>
            <a:ext cx="5065776" cy="320040"/>
          </a:xfrm>
          <a:prstGeom prst="rect">
            <a:avLst/>
          </a:prstGeom>
          <a:noFill/>
        </p:spPr>
        <p:txBody>
          <a:bodyPr wrap="square">
            <a:spAutoFit/>
          </a:bodyPr>
          <a:lstStyle/>
          <a:p>
            <a:pPr algn="l"/>
            <a:r>
              <a:rPr sz="1300" b="1" i="0">
                <a:solidFill>
                  <a:srgbClr val="1A1A1A"/>
                </a:solidFill>
              </a:rPr>
              <a:t>Smart Conflict Resolver</a:t>
            </a:r>
          </a:p>
        </p:txBody>
      </p:sp>
      <p:sp>
        <p:nvSpPr>
          <p:cNvPr id="25" name="TextBox 24"/>
          <p:cNvSpPr txBox="1"/>
          <p:nvPr/>
        </p:nvSpPr>
        <p:spPr>
          <a:xfrm>
            <a:off x="6501384" y="3840480"/>
            <a:ext cx="5065776" cy="713232"/>
          </a:xfrm>
          <a:prstGeom prst="rect">
            <a:avLst/>
          </a:prstGeom>
          <a:noFill/>
        </p:spPr>
        <p:txBody>
          <a:bodyPr wrap="square">
            <a:spAutoFit/>
          </a:bodyPr>
          <a:lstStyle/>
          <a:p>
            <a:pPr algn="l"/>
            <a:r>
              <a:rPr sz="1000" b="0" i="0">
                <a:solidFill>
                  <a:srgbClr val="444444"/>
                </a:solidFill>
              </a:rPr>
              <a:t>Guided dialog for merge conflicts -- file by file, plain language. AI explains which version to keep and drafts the merge message.</a:t>
            </a:r>
          </a:p>
        </p:txBody>
      </p:sp>
      <p:sp>
        <p:nvSpPr>
          <p:cNvPr id="26" name="Rectangle 25"/>
          <p:cNvSpPr/>
          <p:nvPr/>
        </p:nvSpPr>
        <p:spPr>
          <a:xfrm>
            <a:off x="548640" y="4846320"/>
            <a:ext cx="5394960" cy="150876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846320"/>
            <a:ext cx="53949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983480"/>
            <a:ext cx="1097280" cy="237744"/>
          </a:xfrm>
          <a:prstGeom prst="rect">
            <a:avLst/>
          </a:prstGeom>
          <a:noFill/>
        </p:spPr>
        <p:txBody>
          <a:bodyPr wrap="square">
            <a:spAutoFit/>
          </a:bodyPr>
          <a:lstStyle/>
          <a:p>
            <a:pPr algn="l"/>
            <a:r>
              <a:rPr sz="800" b="1" i="0">
                <a:solidFill>
                  <a:srgbClr val="CC0000"/>
                </a:solidFill>
              </a:rPr>
              <a:t>FEATURE 5</a:t>
            </a:r>
          </a:p>
        </p:txBody>
      </p:sp>
      <p:sp>
        <p:nvSpPr>
          <p:cNvPr id="29" name="TextBox 28"/>
          <p:cNvSpPr txBox="1"/>
          <p:nvPr/>
        </p:nvSpPr>
        <p:spPr>
          <a:xfrm>
            <a:off x="713232" y="5193792"/>
            <a:ext cx="5065776" cy="320040"/>
          </a:xfrm>
          <a:prstGeom prst="rect">
            <a:avLst/>
          </a:prstGeom>
          <a:noFill/>
        </p:spPr>
        <p:txBody>
          <a:bodyPr wrap="square">
            <a:spAutoFit/>
          </a:bodyPr>
          <a:lstStyle/>
          <a:p>
            <a:pPr algn="l"/>
            <a:r>
              <a:rPr sz="1300" b="1" i="0">
                <a:solidFill>
                  <a:srgbClr val="1A1A1A"/>
                </a:solidFill>
              </a:rPr>
              <a:t>File Insight</a:t>
            </a:r>
          </a:p>
        </p:txBody>
      </p:sp>
      <p:sp>
        <p:nvSpPr>
          <p:cNvPr id="30" name="TextBox 29"/>
          <p:cNvSpPr txBox="1"/>
          <p:nvPr/>
        </p:nvSpPr>
        <p:spPr>
          <a:xfrm>
            <a:off x="713232" y="5532120"/>
            <a:ext cx="5065776" cy="713232"/>
          </a:xfrm>
          <a:prstGeom prst="rect">
            <a:avLst/>
          </a:prstGeom>
          <a:noFill/>
        </p:spPr>
        <p:txBody>
          <a:bodyPr wrap="square">
            <a:spAutoFit/>
          </a:bodyPr>
          <a:lstStyle/>
          <a:p>
            <a:pPr algn="l"/>
            <a:r>
              <a:rPr sz="1000" b="0" i="0">
                <a:solidFill>
                  <a:srgbClr val="444444"/>
                </a:solidFill>
              </a:rPr>
              <a:t>Click any file for a plain-language explanation of what it does, how it works, and which related files connect to it.</a:t>
            </a:r>
          </a:p>
        </p:txBody>
      </p:sp>
      <p:sp>
        <p:nvSpPr>
          <p:cNvPr id="31" name="Rectangle 30"/>
          <p:cNvSpPr/>
          <p:nvPr/>
        </p:nvSpPr>
        <p:spPr>
          <a:xfrm>
            <a:off x="6336792" y="4846320"/>
            <a:ext cx="5394960" cy="150876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36792" y="4846320"/>
            <a:ext cx="53949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01384" y="4983480"/>
            <a:ext cx="1097280" cy="237744"/>
          </a:xfrm>
          <a:prstGeom prst="rect">
            <a:avLst/>
          </a:prstGeom>
          <a:noFill/>
        </p:spPr>
        <p:txBody>
          <a:bodyPr wrap="square">
            <a:spAutoFit/>
          </a:bodyPr>
          <a:lstStyle/>
          <a:p>
            <a:pPr algn="l"/>
            <a:r>
              <a:rPr sz="800" b="1" i="0">
                <a:solidFill>
                  <a:srgbClr val="CC0000"/>
                </a:solidFill>
              </a:rPr>
              <a:t>FEATURE 6</a:t>
            </a:r>
          </a:p>
        </p:txBody>
      </p:sp>
      <p:sp>
        <p:nvSpPr>
          <p:cNvPr id="34" name="TextBox 33"/>
          <p:cNvSpPr txBox="1"/>
          <p:nvPr/>
        </p:nvSpPr>
        <p:spPr>
          <a:xfrm>
            <a:off x="6501384" y="5193792"/>
            <a:ext cx="5065776" cy="320040"/>
          </a:xfrm>
          <a:prstGeom prst="rect">
            <a:avLst/>
          </a:prstGeom>
          <a:noFill/>
        </p:spPr>
        <p:txBody>
          <a:bodyPr wrap="square">
            <a:spAutoFit/>
          </a:bodyPr>
          <a:lstStyle/>
          <a:p>
            <a:pPr algn="l"/>
            <a:r>
              <a:rPr sz="1300" b="1" i="0">
                <a:solidFill>
                  <a:srgbClr val="1A1A1A"/>
                </a:solidFill>
              </a:rPr>
              <a:t>Untracked File Review</a:t>
            </a:r>
          </a:p>
        </p:txBody>
      </p:sp>
      <p:sp>
        <p:nvSpPr>
          <p:cNvPr id="35" name="TextBox 34"/>
          <p:cNvSpPr txBox="1"/>
          <p:nvPr/>
        </p:nvSpPr>
        <p:spPr>
          <a:xfrm>
            <a:off x="6501384" y="5532120"/>
            <a:ext cx="5065776" cy="713232"/>
          </a:xfrm>
          <a:prstGeom prst="rect">
            <a:avLst/>
          </a:prstGeom>
          <a:noFill/>
        </p:spPr>
        <p:txBody>
          <a:bodyPr wrap="square">
            <a:spAutoFit/>
          </a:bodyPr>
          <a:lstStyle/>
          <a:p>
            <a:pPr algn="l"/>
            <a:r>
              <a:rPr sz="1000" b="0" i="0">
                <a:solidFill>
                  <a:srgbClr val="444444"/>
                </a:solidFill>
              </a:rPr>
              <a:t>Classifies untracked files as commit or delete. Rule-based pass first, AI handles ambiguous cases. Stage or delete in one click.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32720" cy="292608"/>
          </a:xfrm>
          <a:prstGeom prst="rect">
            <a:avLst/>
          </a:prstGeom>
          <a:noFill/>
        </p:spPr>
        <p:txBody>
          <a:bodyPr wrap="square">
            <a:spAutoFit/>
          </a:bodyPr>
          <a:lstStyle/>
          <a:p>
            <a:pPr algn="ctr"/>
            <a:r>
              <a:rPr sz="900" b="1" i="0">
                <a:solidFill>
                  <a:srgbClr val="888888"/>
                </a:solidFill>
              </a:rPr>
              <a:t>SUMMARY</a:t>
            </a:r>
          </a:p>
        </p:txBody>
      </p:sp>
      <p:sp>
        <p:nvSpPr>
          <p:cNvPr id="4" name="TextBox 3"/>
          <p:cNvSpPr txBox="1"/>
          <p:nvPr/>
        </p:nvSpPr>
        <p:spPr>
          <a:xfrm>
            <a:off x="914400" y="1188720"/>
            <a:ext cx="10332720" cy="1463040"/>
          </a:xfrm>
          <a:prstGeom prst="rect">
            <a:avLst/>
          </a:prstGeom>
          <a:noFill/>
        </p:spPr>
        <p:txBody>
          <a:bodyPr wrap="square">
            <a:spAutoFit/>
          </a:bodyPr>
          <a:lstStyle/>
          <a:p>
            <a:pPr algn="ctr"/>
            <a:r>
              <a:rPr sz="3200" b="1" i="0">
                <a:solidFill>
                  <a:srgbClr val="FFFFFF"/>
                </a:solidFill>
              </a:rPr>
              <a:t>Bringing version control to everyone --
not just developers.</a:t>
            </a:r>
          </a:p>
        </p:txBody>
      </p:sp>
      <p:sp>
        <p:nvSpPr>
          <p:cNvPr id="5" name="Rectangle 4"/>
          <p:cNvSpPr/>
          <p:nvPr/>
        </p:nvSpPr>
        <p:spPr>
          <a:xfrm>
            <a:off x="5120640" y="2834640"/>
            <a:ext cx="1920240" cy="254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71800"/>
            <a:ext cx="4846320" cy="502920"/>
          </a:xfrm>
          <a:prstGeom prst="rect">
            <a:avLst/>
          </a:prstGeom>
          <a:noFill/>
        </p:spPr>
        <p:txBody>
          <a:bodyPr wrap="square">
            <a:spAutoFit/>
          </a:bodyPr>
          <a:lstStyle/>
          <a:p>
            <a:pPr algn="ctr"/>
            <a:r>
              <a:rPr sz="1700" b="1" i="0">
                <a:solidFill>
                  <a:srgbClr val="888888"/>
                </a:solidFill>
              </a:rPr>
              <a:t>Code Repo Knowledge Layer</a:t>
            </a:r>
          </a:p>
        </p:txBody>
      </p:sp>
      <p:sp>
        <p:nvSpPr>
          <p:cNvPr id="7" name="TextBox 6"/>
          <p:cNvSpPr txBox="1"/>
          <p:nvPr/>
        </p:nvSpPr>
        <p:spPr>
          <a:xfrm>
            <a:off x="731520" y="3474720"/>
            <a:ext cx="4846320" cy="365760"/>
          </a:xfrm>
          <a:prstGeom prst="rect">
            <a:avLst/>
          </a:prstGeom>
          <a:noFill/>
        </p:spPr>
        <p:txBody>
          <a:bodyPr wrap="square">
            <a:spAutoFit/>
          </a:bodyPr>
          <a:lstStyle/>
          <a:p>
            <a:pPr algn="ctr"/>
            <a:r>
              <a:rPr sz="1100" b="0" i="0">
                <a:solidFill>
                  <a:srgbClr val="666666"/>
                </a:solidFill>
              </a:rPr>
              <a:t>Developer onboarding  |  VS Code extension</a:t>
            </a:r>
          </a:p>
        </p:txBody>
      </p:sp>
      <p:sp>
        <p:nvSpPr>
          <p:cNvPr id="8" name="TextBox 7"/>
          <p:cNvSpPr txBox="1"/>
          <p:nvPr/>
        </p:nvSpPr>
        <p:spPr>
          <a:xfrm>
            <a:off x="5074920" y="3063240"/>
            <a:ext cx="2011680" cy="594360"/>
          </a:xfrm>
          <a:prstGeom prst="rect">
            <a:avLst/>
          </a:prstGeom>
          <a:noFill/>
        </p:spPr>
        <p:txBody>
          <a:bodyPr wrap="square">
            <a:spAutoFit/>
          </a:bodyPr>
          <a:lstStyle/>
          <a:p>
            <a:pPr algn="ctr"/>
            <a:r>
              <a:rPr sz="3600" b="1" i="0">
                <a:solidFill>
                  <a:srgbClr val="CC0000"/>
                </a:solidFill>
              </a:rPr>
              <a:t>-&gt;</a:t>
            </a:r>
          </a:p>
        </p:txBody>
      </p:sp>
      <p:sp>
        <p:nvSpPr>
          <p:cNvPr id="9" name="TextBox 8"/>
          <p:cNvSpPr txBox="1"/>
          <p:nvPr/>
        </p:nvSpPr>
        <p:spPr>
          <a:xfrm>
            <a:off x="6583680" y="2971800"/>
            <a:ext cx="4846320" cy="502920"/>
          </a:xfrm>
          <a:prstGeom prst="rect">
            <a:avLst/>
          </a:prstGeom>
          <a:noFill/>
        </p:spPr>
        <p:txBody>
          <a:bodyPr wrap="square">
            <a:spAutoFit/>
          </a:bodyPr>
          <a:lstStyle/>
          <a:p>
            <a:pPr algn="ctr"/>
            <a:r>
              <a:rPr sz="2000" b="1" i="0">
                <a:solidFill>
                  <a:srgbClr val="FFFFFF"/>
                </a:solidFill>
              </a:rPr>
              <a:t>Git Abstraction Tool</a:t>
            </a:r>
          </a:p>
        </p:txBody>
      </p:sp>
      <p:sp>
        <p:nvSpPr>
          <p:cNvPr id="10" name="TextBox 9"/>
          <p:cNvSpPr txBox="1"/>
          <p:nvPr/>
        </p:nvSpPr>
        <p:spPr>
          <a:xfrm>
            <a:off x="6583680" y="3474720"/>
            <a:ext cx="4846320" cy="365760"/>
          </a:xfrm>
          <a:prstGeom prst="rect">
            <a:avLst/>
          </a:prstGeom>
          <a:noFill/>
        </p:spPr>
        <p:txBody>
          <a:bodyPr wrap="square">
            <a:spAutoFit/>
          </a:bodyPr>
          <a:lstStyle/>
          <a:p>
            <a:pPr algn="ctr"/>
            <a:r>
              <a:rPr sz="1100" b="0" i="0">
                <a:solidFill>
                  <a:srgbClr val="AAAAAA"/>
                </a:solidFill>
              </a:rPr>
              <a:t>Version control for everyone  |  Electron desktop app</a:t>
            </a:r>
          </a:p>
        </p:txBody>
      </p:sp>
      <p:sp>
        <p:nvSpPr>
          <p:cNvPr id="11" name="TextBox 10"/>
          <p:cNvSpPr txBox="1"/>
          <p:nvPr/>
        </p:nvSpPr>
        <p:spPr>
          <a:xfrm>
            <a:off x="548640" y="6263640"/>
            <a:ext cx="11064240" cy="320040"/>
          </a:xfrm>
          <a:prstGeom prst="rect">
            <a:avLst/>
          </a:prstGeom>
          <a:noFill/>
        </p:spPr>
        <p:txBody>
          <a:bodyPr wrap="square">
            <a:spAutoFit/>
          </a:bodyPr>
          <a:lstStyle/>
          <a:p>
            <a:pPr algn="ctr"/>
            <a:r>
              <a:rPr sz="1000" b="0" i="0">
                <a:solidFill>
                  <a:srgbClr val="555555"/>
                </a:solidFill>
              </a:rPr>
              <a:t>Honda x 99P Labs  |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